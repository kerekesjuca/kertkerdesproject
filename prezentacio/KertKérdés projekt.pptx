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autoCompressPictures="0">
  <p:sldMasterIdLst>
    <p:sldMasterId id="2147483648" r:id="rId1"/>
  </p:sldMasterIdLst>
  <p:notesMasterIdLst>
    <p:notesMasterId r:id="rId16"/>
  </p:notesMasterIdLst>
  <p:sldIdLst>
    <p:sldId id="256" r:id="rId2"/>
    <p:sldId id="257" r:id="rId3"/>
    <p:sldId id="259" r:id="rId4"/>
    <p:sldId id="258" r:id="rId5"/>
    <p:sldId id="261" r:id="rId6"/>
    <p:sldId id="263" r:id="rId7"/>
    <p:sldId id="267" r:id="rId8"/>
    <p:sldId id="262" r:id="rId9"/>
    <p:sldId id="266" r:id="rId10"/>
    <p:sldId id="264" r:id="rId11"/>
    <p:sldId id="265" r:id="rId12"/>
    <p:sldId id="271" r:id="rId13"/>
    <p:sldId id="272" r:id="rId14"/>
    <p:sldId id="273" r:id="rId15"/>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1808" autoAdjust="0"/>
    <p:restoredTop sz="81909" autoAdjust="0"/>
  </p:normalViewPr>
  <p:slideViewPr>
    <p:cSldViewPr snapToGrid="0">
      <p:cViewPr>
        <p:scale>
          <a:sx n="50" d="100"/>
          <a:sy n="50" d="100"/>
        </p:scale>
        <p:origin x="1404" y="72"/>
      </p:cViewPr>
      <p:guideLst/>
    </p:cSldViewPr>
  </p:slideViewPr>
  <p:outlineViewPr>
    <p:cViewPr>
      <p:scale>
        <a:sx n="33" d="100"/>
        <a:sy n="33" d="100"/>
      </p:scale>
      <p:origin x="0" y="0"/>
    </p:cViewPr>
  </p:outlineViewPr>
  <p:notesTextViewPr>
    <p:cViewPr>
      <p:scale>
        <a:sx n="1" d="1"/>
        <a:sy n="1" d="1"/>
      </p:scale>
      <p:origin x="0" y="0"/>
    </p:cViewPr>
  </p:notesTextViewPr>
  <p:notesViewPr>
    <p:cSldViewPr snapToGrid="0">
      <p:cViewPr>
        <p:scale>
          <a:sx n="75" d="100"/>
          <a:sy n="75" d="100"/>
        </p:scale>
        <p:origin x="2938" y="-307"/>
      </p:cViewPr>
      <p:guideLst/>
    </p:cSldViewPr>
  </p:notes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viewProps" Target="view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presProps" Target="presProps.xml"/><Relationship Id="rId2" Type="http://schemas.openxmlformats.org/officeDocument/2006/relationships/slide" Target="slides/slide1.xml"/><Relationship Id="rId16" Type="http://schemas.openxmlformats.org/officeDocument/2006/relationships/notesMaster" Target="notesMasters/notesMaster1.xml"/><Relationship Id="rId20"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Élőfej helye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hu-HU"/>
          </a:p>
        </p:txBody>
      </p:sp>
      <p:sp>
        <p:nvSpPr>
          <p:cNvPr id="3" name="Dátum helye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A1704E5D-5785-4046-BB36-2F839F64BDBD}" type="datetimeFigureOut">
              <a:rPr lang="hu-HU" smtClean="0"/>
              <a:t>2026. 04. 27.</a:t>
            </a:fld>
            <a:endParaRPr lang="hu-HU"/>
          </a:p>
        </p:txBody>
      </p:sp>
      <p:sp>
        <p:nvSpPr>
          <p:cNvPr id="4" name="Diakép helye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hu-HU"/>
          </a:p>
        </p:txBody>
      </p:sp>
      <p:sp>
        <p:nvSpPr>
          <p:cNvPr id="5" name="Jegyzetek helye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hu-HU"/>
              <a:t>Mintaszöveg szerkesztése</a:t>
            </a:r>
          </a:p>
          <a:p>
            <a:pPr lvl="1"/>
            <a:r>
              <a:rPr lang="hu-HU"/>
              <a:t>Második szint</a:t>
            </a:r>
          </a:p>
          <a:p>
            <a:pPr lvl="2"/>
            <a:r>
              <a:rPr lang="hu-HU"/>
              <a:t>Harmadik szint</a:t>
            </a:r>
          </a:p>
          <a:p>
            <a:pPr lvl="3"/>
            <a:r>
              <a:rPr lang="hu-HU"/>
              <a:t>Negyedik szint</a:t>
            </a:r>
          </a:p>
          <a:p>
            <a:pPr lvl="4"/>
            <a:r>
              <a:rPr lang="hu-HU"/>
              <a:t>Ötödik szint</a:t>
            </a:r>
          </a:p>
        </p:txBody>
      </p:sp>
      <p:sp>
        <p:nvSpPr>
          <p:cNvPr id="6" name="Élőláb helye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hu-HU"/>
          </a:p>
        </p:txBody>
      </p:sp>
      <p:sp>
        <p:nvSpPr>
          <p:cNvPr id="7" name="Dia számának helye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DE52EEBA-1233-41A5-B150-5DD102CFDAF5}" type="slidenum">
              <a:rPr lang="hu-HU" smtClean="0"/>
              <a:t>‹#›</a:t>
            </a:fld>
            <a:endParaRPr lang="hu-HU"/>
          </a:p>
        </p:txBody>
      </p:sp>
    </p:spTree>
    <p:extLst>
      <p:ext uri="{BB962C8B-B14F-4D97-AF65-F5344CB8AC3E}">
        <p14:creationId xmlns:p14="http://schemas.microsoft.com/office/powerpoint/2010/main" val="4179242830"/>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Diakép helye 1"/>
          <p:cNvSpPr>
            <a:spLocks noGrp="1" noRot="1" noChangeAspect="1"/>
          </p:cNvSpPr>
          <p:nvPr>
            <p:ph type="sldImg"/>
          </p:nvPr>
        </p:nvSpPr>
        <p:spPr/>
      </p:sp>
      <p:sp>
        <p:nvSpPr>
          <p:cNvPr id="3" name="Jegyzetek helye 2"/>
          <p:cNvSpPr>
            <a:spLocks noGrp="1"/>
          </p:cNvSpPr>
          <p:nvPr>
            <p:ph type="body" idx="1"/>
          </p:nvPr>
        </p:nvSpPr>
        <p:spPr/>
        <p:txBody>
          <a:bodyPr/>
          <a:lstStyle/>
          <a:p>
            <a:endParaRPr lang="hu-HU" dirty="0"/>
          </a:p>
        </p:txBody>
      </p:sp>
      <p:sp>
        <p:nvSpPr>
          <p:cNvPr id="4" name="Dia számának helye 3"/>
          <p:cNvSpPr>
            <a:spLocks noGrp="1"/>
          </p:cNvSpPr>
          <p:nvPr>
            <p:ph type="sldNum" sz="quarter" idx="5"/>
          </p:nvPr>
        </p:nvSpPr>
        <p:spPr/>
        <p:txBody>
          <a:bodyPr/>
          <a:lstStyle/>
          <a:p>
            <a:fld id="{DE52EEBA-1233-41A5-B150-5DD102CFDAF5}" type="slidenum">
              <a:rPr lang="hu-HU" smtClean="0"/>
              <a:t>1</a:t>
            </a:fld>
            <a:endParaRPr lang="hu-HU"/>
          </a:p>
        </p:txBody>
      </p:sp>
    </p:spTree>
    <p:extLst>
      <p:ext uri="{BB962C8B-B14F-4D97-AF65-F5344CB8AC3E}">
        <p14:creationId xmlns:p14="http://schemas.microsoft.com/office/powerpoint/2010/main" val="3691071440"/>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Diakép helye 1"/>
          <p:cNvSpPr>
            <a:spLocks noGrp="1" noRot="1" noChangeAspect="1"/>
          </p:cNvSpPr>
          <p:nvPr>
            <p:ph type="sldImg"/>
          </p:nvPr>
        </p:nvSpPr>
        <p:spPr/>
      </p:sp>
      <p:sp>
        <p:nvSpPr>
          <p:cNvPr id="3" name="Jegyzetek helye 2"/>
          <p:cNvSpPr>
            <a:spLocks noGrp="1"/>
          </p:cNvSpPr>
          <p:nvPr>
            <p:ph type="body" idx="1"/>
          </p:nvPr>
        </p:nvSpPr>
        <p:spPr/>
        <p:txBody>
          <a:bodyPr/>
          <a:lstStyle/>
          <a:p>
            <a:r>
              <a:rPr lang="hu-HU" dirty="0"/>
              <a:t>A projektünk címe </a:t>
            </a:r>
            <a:r>
              <a:rPr lang="hu-HU" dirty="0" err="1"/>
              <a:t>KertKérdés</a:t>
            </a:r>
            <a:r>
              <a:rPr lang="hu-HU" dirty="0"/>
              <a:t>, amely egy kertészeti témájú webalkalmazás, és elsődleges célja egy olyan online felület létrehozása, ahol a felhasználók növénytermesztéssel kapcsolatos kérdéseket tehetnek fel, illetve válaszokat adhatnak egymás kérdéseire. Emellett szavazattal is lehet ezeket értékelni.</a:t>
            </a:r>
          </a:p>
          <a:p>
            <a:endParaRPr lang="hu-HU" dirty="0"/>
          </a:p>
          <a:p>
            <a:r>
              <a:rPr lang="hu-HU" dirty="0"/>
              <a:t>Az alkalmazás alapgondolata abból indult ki, hogy a kertészkedéshez kapcsolódó gyakorlati problémák sokszor nagyon speciálisak, és az interneten található általános leírások nem minden esetben adnak közvetlenül használható választ. Egy közösségi alapú kérdés–válasz rendszer ezzel szemben lehetővé teszi, hogy valós tapasztalatok alapján </a:t>
            </a:r>
            <a:r>
              <a:rPr lang="hu-HU" dirty="0" err="1"/>
              <a:t>szülessenek</a:t>
            </a:r>
            <a:r>
              <a:rPr lang="hu-HU" dirty="0"/>
              <a:t> megoldások.</a:t>
            </a:r>
          </a:p>
          <a:p>
            <a:endParaRPr lang="hu-HU" dirty="0"/>
          </a:p>
          <a:p>
            <a:endParaRPr lang="hu-HU" dirty="0"/>
          </a:p>
          <a:p>
            <a:endParaRPr lang="hu-HU" dirty="0"/>
          </a:p>
          <a:p>
            <a:endParaRPr lang="hu-HU" dirty="0"/>
          </a:p>
        </p:txBody>
      </p:sp>
      <p:sp>
        <p:nvSpPr>
          <p:cNvPr id="4" name="Dia számának helye 3"/>
          <p:cNvSpPr>
            <a:spLocks noGrp="1"/>
          </p:cNvSpPr>
          <p:nvPr>
            <p:ph type="sldNum" sz="quarter" idx="5"/>
          </p:nvPr>
        </p:nvSpPr>
        <p:spPr/>
        <p:txBody>
          <a:bodyPr/>
          <a:lstStyle/>
          <a:p>
            <a:fld id="{DE52EEBA-1233-41A5-B150-5DD102CFDAF5}" type="slidenum">
              <a:rPr lang="hu-HU" smtClean="0"/>
              <a:t>2</a:t>
            </a:fld>
            <a:endParaRPr lang="hu-HU" dirty="0"/>
          </a:p>
        </p:txBody>
      </p:sp>
    </p:spTree>
    <p:extLst>
      <p:ext uri="{BB962C8B-B14F-4D97-AF65-F5344CB8AC3E}">
        <p14:creationId xmlns:p14="http://schemas.microsoft.com/office/powerpoint/2010/main" val="3016963838"/>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Diakép helye 1"/>
          <p:cNvSpPr>
            <a:spLocks noGrp="1" noRot="1" noChangeAspect="1"/>
          </p:cNvSpPr>
          <p:nvPr>
            <p:ph type="sldImg"/>
          </p:nvPr>
        </p:nvSpPr>
        <p:spPr/>
      </p:sp>
      <p:sp>
        <p:nvSpPr>
          <p:cNvPr id="3" name="Jegyzetek helye 2"/>
          <p:cNvSpPr>
            <a:spLocks noGrp="1"/>
          </p:cNvSpPr>
          <p:nvPr>
            <p:ph type="body" idx="1"/>
          </p:nvPr>
        </p:nvSpPr>
        <p:spPr/>
        <p:txBody>
          <a:bodyPr/>
          <a:lstStyle/>
          <a:p>
            <a:r>
              <a:rPr lang="hu-HU" dirty="0"/>
              <a:t>A projekt megtervezésekor fontos szempont volt, hogy ne csak egyszerű statikus weboldalt készítsünk, hanem olyan dinamikus alkalmazást, amely adatbázisra épül, felhasználókezelést tartalmaz, jogosultságokat különböztet meg, és képes hosszabb távon bővíthető szerkezetben működni. </a:t>
            </a:r>
          </a:p>
          <a:p>
            <a:endParaRPr lang="hu-HU" dirty="0"/>
          </a:p>
          <a:p>
            <a:r>
              <a:rPr lang="hu-HU" dirty="0"/>
              <a:t>Az elkészült rendszer egy olyan strukturált webes alkalmazás , ahol a kérdések témakörök szerint rendezhetők, címkékkel elláthatók, amelyekkel kereshetők, és a tartalmak </a:t>
            </a:r>
            <a:r>
              <a:rPr lang="hu-HU" dirty="0" err="1"/>
              <a:t>moderáció</a:t>
            </a:r>
            <a:r>
              <a:rPr lang="hu-HU" dirty="0"/>
              <a:t> után jelennek meg. Ezáltal a felület áttekinthető marad, és hosszabb távon egy jól használható tudásbázissá válhat.</a:t>
            </a:r>
          </a:p>
        </p:txBody>
      </p:sp>
      <p:sp>
        <p:nvSpPr>
          <p:cNvPr id="4" name="Dia számának helye 3"/>
          <p:cNvSpPr>
            <a:spLocks noGrp="1"/>
          </p:cNvSpPr>
          <p:nvPr>
            <p:ph type="sldNum" sz="quarter" idx="5"/>
          </p:nvPr>
        </p:nvSpPr>
        <p:spPr/>
        <p:txBody>
          <a:bodyPr/>
          <a:lstStyle/>
          <a:p>
            <a:fld id="{DE52EEBA-1233-41A5-B150-5DD102CFDAF5}" type="slidenum">
              <a:rPr lang="hu-HU" smtClean="0"/>
              <a:t>3</a:t>
            </a:fld>
            <a:endParaRPr lang="hu-HU"/>
          </a:p>
        </p:txBody>
      </p:sp>
    </p:spTree>
    <p:extLst>
      <p:ext uri="{BB962C8B-B14F-4D97-AF65-F5344CB8AC3E}">
        <p14:creationId xmlns:p14="http://schemas.microsoft.com/office/powerpoint/2010/main" val="4079904104"/>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Diakép helye 1"/>
          <p:cNvSpPr>
            <a:spLocks noGrp="1" noRot="1" noChangeAspect="1"/>
          </p:cNvSpPr>
          <p:nvPr>
            <p:ph type="sldImg"/>
          </p:nvPr>
        </p:nvSpPr>
        <p:spPr/>
      </p:sp>
      <p:sp>
        <p:nvSpPr>
          <p:cNvPr id="3" name="Jegyzetek helye 2"/>
          <p:cNvSpPr>
            <a:spLocks noGrp="1"/>
          </p:cNvSpPr>
          <p:nvPr>
            <p:ph type="body" idx="1"/>
          </p:nvPr>
        </p:nvSpPr>
        <p:spPr/>
        <p:txBody>
          <a:bodyPr/>
          <a:lstStyle/>
          <a:p>
            <a:r>
              <a:rPr lang="hu-HU" sz="1200" kern="1200" dirty="0">
                <a:solidFill>
                  <a:schemeClr val="tx1"/>
                </a:solidFill>
                <a:effectLst/>
                <a:latin typeface="+mn-lt"/>
                <a:ea typeface="+mn-ea"/>
                <a:cs typeface="+mn-cs"/>
              </a:rPr>
              <a:t>A projekt egyik fontos célja volt az is, hogy valódi webalkalmazás-architektúrát alkalmazzunk, tehát külön kezeljük:</a:t>
            </a:r>
          </a:p>
          <a:p>
            <a:pPr marL="171450" lvl="0" indent="-171450">
              <a:buFont typeface="Arial" panose="020B0604020202020204" pitchFamily="34" charset="0"/>
              <a:buChar char="•"/>
            </a:pPr>
            <a:r>
              <a:rPr lang="hu-HU" sz="1200" kern="1200" dirty="0">
                <a:solidFill>
                  <a:schemeClr val="tx1"/>
                </a:solidFill>
                <a:effectLst/>
                <a:latin typeface="+mn-lt"/>
                <a:ea typeface="+mn-ea"/>
                <a:cs typeface="+mn-cs"/>
              </a:rPr>
              <a:t>az adatbázist, </a:t>
            </a:r>
          </a:p>
          <a:p>
            <a:pPr marL="171450" lvl="0" indent="-171450">
              <a:buFont typeface="Arial" panose="020B0604020202020204" pitchFamily="34" charset="0"/>
              <a:buChar char="•"/>
            </a:pPr>
            <a:r>
              <a:rPr lang="hu-HU" sz="1200" kern="1200" dirty="0">
                <a:solidFill>
                  <a:schemeClr val="tx1"/>
                </a:solidFill>
                <a:effectLst/>
                <a:latin typeface="+mn-lt"/>
                <a:ea typeface="+mn-ea"/>
                <a:cs typeface="+mn-cs"/>
              </a:rPr>
              <a:t>az üzleti logikát, </a:t>
            </a:r>
          </a:p>
          <a:p>
            <a:pPr marL="171450" lvl="0" indent="-171450">
              <a:buFont typeface="Arial" panose="020B0604020202020204" pitchFamily="34" charset="0"/>
              <a:buChar char="•"/>
            </a:pPr>
            <a:r>
              <a:rPr lang="hu-HU" sz="1200" kern="1200" dirty="0">
                <a:solidFill>
                  <a:schemeClr val="tx1"/>
                </a:solidFill>
                <a:effectLst/>
                <a:latin typeface="+mn-lt"/>
                <a:ea typeface="+mn-ea"/>
                <a:cs typeface="+mn-cs"/>
              </a:rPr>
              <a:t>a felhasználói felületet. </a:t>
            </a:r>
          </a:p>
          <a:p>
            <a:pPr lvl="0"/>
            <a:endParaRPr lang="hu-HU" sz="1200" kern="1200" dirty="0">
              <a:solidFill>
                <a:schemeClr val="tx1"/>
              </a:solidFill>
              <a:effectLst/>
              <a:latin typeface="+mn-lt"/>
              <a:ea typeface="+mn-ea"/>
              <a:cs typeface="+mn-cs"/>
            </a:endParaRPr>
          </a:p>
          <a:p>
            <a:r>
              <a:rPr lang="hu-HU" sz="1200" kern="1200" dirty="0">
                <a:solidFill>
                  <a:schemeClr val="tx1"/>
                </a:solidFill>
                <a:effectLst/>
                <a:latin typeface="+mn-lt"/>
                <a:ea typeface="+mn-ea"/>
                <a:cs typeface="+mn-cs"/>
              </a:rPr>
              <a:t>Ezért MVC szerkezetben készült el az alkalmazás.</a:t>
            </a:r>
          </a:p>
          <a:p>
            <a:endParaRPr lang="hu-HU" dirty="0"/>
          </a:p>
        </p:txBody>
      </p:sp>
      <p:sp>
        <p:nvSpPr>
          <p:cNvPr id="4" name="Dia számának helye 3"/>
          <p:cNvSpPr>
            <a:spLocks noGrp="1"/>
          </p:cNvSpPr>
          <p:nvPr>
            <p:ph type="sldNum" sz="quarter" idx="5"/>
          </p:nvPr>
        </p:nvSpPr>
        <p:spPr/>
        <p:txBody>
          <a:bodyPr/>
          <a:lstStyle/>
          <a:p>
            <a:fld id="{DE52EEBA-1233-41A5-B150-5DD102CFDAF5}" type="slidenum">
              <a:rPr lang="hu-HU" smtClean="0"/>
              <a:t>4</a:t>
            </a:fld>
            <a:endParaRPr lang="hu-HU"/>
          </a:p>
        </p:txBody>
      </p:sp>
    </p:spTree>
    <p:extLst>
      <p:ext uri="{BB962C8B-B14F-4D97-AF65-F5344CB8AC3E}">
        <p14:creationId xmlns:p14="http://schemas.microsoft.com/office/powerpoint/2010/main" val="162882922"/>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Diakép helye 1"/>
          <p:cNvSpPr>
            <a:spLocks noGrp="1" noRot="1" noChangeAspect="1"/>
          </p:cNvSpPr>
          <p:nvPr>
            <p:ph type="sldImg"/>
          </p:nvPr>
        </p:nvSpPr>
        <p:spPr/>
      </p:sp>
      <p:sp>
        <p:nvSpPr>
          <p:cNvPr id="3" name="Jegyzetek helye 2"/>
          <p:cNvSpPr>
            <a:spLocks noGrp="1"/>
          </p:cNvSpPr>
          <p:nvPr>
            <p:ph type="body" idx="1"/>
          </p:nvPr>
        </p:nvSpPr>
        <p:spPr/>
        <p:txBody>
          <a:bodyPr/>
          <a:lstStyle/>
          <a:p>
            <a:r>
              <a:rPr lang="hu-HU" dirty="0"/>
              <a:t>A </a:t>
            </a:r>
            <a:r>
              <a:rPr lang="hu-HU" sz="1200" kern="1200" dirty="0">
                <a:solidFill>
                  <a:schemeClr val="tx1"/>
                </a:solidFill>
                <a:effectLst/>
                <a:latin typeface="+mn-lt"/>
                <a:ea typeface="+mn-ea"/>
                <a:cs typeface="+mn-cs"/>
              </a:rPr>
              <a:t>projekt fejlesztése során </a:t>
            </a:r>
            <a:r>
              <a:rPr lang="hu-HU" sz="1200" b="1" kern="1200" dirty="0">
                <a:solidFill>
                  <a:schemeClr val="tx1"/>
                </a:solidFill>
                <a:effectLst/>
                <a:latin typeface="+mn-lt"/>
                <a:ea typeface="+mn-ea"/>
                <a:cs typeface="+mn-cs"/>
              </a:rPr>
              <a:t>a Microsoft által biztosított ASP.NET </a:t>
            </a:r>
            <a:r>
              <a:rPr lang="hu-HU" sz="1200" b="1" kern="1200" dirty="0" err="1">
                <a:solidFill>
                  <a:schemeClr val="tx1"/>
                </a:solidFill>
                <a:effectLst/>
                <a:latin typeface="+mn-lt"/>
                <a:ea typeface="+mn-ea"/>
                <a:cs typeface="+mn-cs"/>
              </a:rPr>
              <a:t>Core</a:t>
            </a:r>
            <a:r>
              <a:rPr lang="hu-HU" sz="1200" b="1" kern="1200" dirty="0">
                <a:solidFill>
                  <a:schemeClr val="tx1"/>
                </a:solidFill>
                <a:effectLst/>
                <a:latin typeface="+mn-lt"/>
                <a:ea typeface="+mn-ea"/>
                <a:cs typeface="+mn-cs"/>
              </a:rPr>
              <a:t> MVC keretrendszert</a:t>
            </a:r>
            <a:r>
              <a:rPr lang="hu-HU" sz="1200" kern="1200" dirty="0">
                <a:solidFill>
                  <a:schemeClr val="tx1"/>
                </a:solidFill>
                <a:effectLst/>
                <a:latin typeface="+mn-lt"/>
                <a:ea typeface="+mn-ea"/>
                <a:cs typeface="+mn-cs"/>
              </a:rPr>
              <a:t> választottuk, amely napjaink egyik legelterjedtebb szerveroldali webalkalmazás-fejlesztési technológiája. Az MVC rövidítés a </a:t>
            </a:r>
            <a:r>
              <a:rPr lang="hu-HU" sz="1200" b="1" kern="1200" dirty="0" err="1">
                <a:solidFill>
                  <a:schemeClr val="tx1"/>
                </a:solidFill>
                <a:effectLst/>
                <a:latin typeface="+mn-lt"/>
                <a:ea typeface="+mn-ea"/>
                <a:cs typeface="+mn-cs"/>
              </a:rPr>
              <a:t>Model</a:t>
            </a:r>
            <a:r>
              <a:rPr lang="hu-HU" sz="1200" b="1" kern="1200" dirty="0">
                <a:solidFill>
                  <a:schemeClr val="tx1"/>
                </a:solidFill>
                <a:effectLst/>
                <a:latin typeface="+mn-lt"/>
                <a:ea typeface="+mn-ea"/>
                <a:cs typeface="+mn-cs"/>
              </a:rPr>
              <a:t> – </a:t>
            </a:r>
            <a:r>
              <a:rPr lang="hu-HU" sz="1200" b="1" kern="1200" dirty="0" err="1">
                <a:solidFill>
                  <a:schemeClr val="tx1"/>
                </a:solidFill>
                <a:effectLst/>
                <a:latin typeface="+mn-lt"/>
                <a:ea typeface="+mn-ea"/>
                <a:cs typeface="+mn-cs"/>
              </a:rPr>
              <a:t>View</a:t>
            </a:r>
            <a:r>
              <a:rPr lang="hu-HU" sz="1200" b="1" kern="1200" dirty="0">
                <a:solidFill>
                  <a:schemeClr val="tx1"/>
                </a:solidFill>
                <a:effectLst/>
                <a:latin typeface="+mn-lt"/>
                <a:ea typeface="+mn-ea"/>
                <a:cs typeface="+mn-cs"/>
              </a:rPr>
              <a:t> – </a:t>
            </a:r>
            <a:r>
              <a:rPr lang="hu-HU" sz="1200" b="1" kern="1200" dirty="0" err="1">
                <a:solidFill>
                  <a:schemeClr val="tx1"/>
                </a:solidFill>
                <a:effectLst/>
                <a:latin typeface="+mn-lt"/>
                <a:ea typeface="+mn-ea"/>
                <a:cs typeface="+mn-cs"/>
              </a:rPr>
              <a:t>Controller</a:t>
            </a:r>
            <a:r>
              <a:rPr lang="hu-HU" sz="1200" kern="1200" dirty="0">
                <a:solidFill>
                  <a:schemeClr val="tx1"/>
                </a:solidFill>
                <a:effectLst/>
                <a:latin typeface="+mn-lt"/>
                <a:ea typeface="+mn-ea"/>
                <a:cs typeface="+mn-cs"/>
              </a:rPr>
              <a:t> kifejezésekből származik, amely egy olyan </a:t>
            </a:r>
            <a:r>
              <a:rPr lang="hu-HU" sz="1200" kern="1200" dirty="0" err="1">
                <a:solidFill>
                  <a:schemeClr val="tx1"/>
                </a:solidFill>
                <a:effectLst/>
                <a:latin typeface="+mn-lt"/>
                <a:ea typeface="+mn-ea"/>
                <a:cs typeface="+mn-cs"/>
              </a:rPr>
              <a:t>architekturális</a:t>
            </a:r>
            <a:r>
              <a:rPr lang="hu-HU" sz="1200" kern="1200" dirty="0">
                <a:solidFill>
                  <a:schemeClr val="tx1"/>
                </a:solidFill>
                <a:effectLst/>
                <a:latin typeface="+mn-lt"/>
                <a:ea typeface="+mn-ea"/>
                <a:cs typeface="+mn-cs"/>
              </a:rPr>
              <a:t> minta, amelynek célja az alkalmazás különböző felelősségi köreinek szétválasztása.</a:t>
            </a:r>
          </a:p>
          <a:p>
            <a:r>
              <a:rPr lang="hu-HU" sz="1200" kern="1200" dirty="0">
                <a:solidFill>
                  <a:schemeClr val="tx1"/>
                </a:solidFill>
                <a:effectLst/>
                <a:latin typeface="+mn-lt"/>
                <a:ea typeface="+mn-ea"/>
                <a:cs typeface="+mn-cs"/>
              </a:rPr>
              <a:t>Ez a megközelítés különösen fontos nagyobb rendszerek fejlesztésénél, mert lehetővé teszi, hogy az alkalmazás logikai részei jól elkülönüljenek egymástól, így a rendszer:</a:t>
            </a:r>
          </a:p>
          <a:p>
            <a:pPr marL="171450" lvl="0" indent="-171450">
              <a:buFont typeface="Arial" panose="020B0604020202020204" pitchFamily="34" charset="0"/>
              <a:buChar char="•"/>
            </a:pPr>
            <a:r>
              <a:rPr lang="hu-HU" sz="1200" kern="1200" dirty="0">
                <a:solidFill>
                  <a:schemeClr val="tx1"/>
                </a:solidFill>
                <a:effectLst/>
                <a:latin typeface="+mn-lt"/>
                <a:ea typeface="+mn-ea"/>
                <a:cs typeface="+mn-cs"/>
              </a:rPr>
              <a:t>könnyebben karbantartható, </a:t>
            </a:r>
          </a:p>
          <a:p>
            <a:pPr marL="171450" lvl="0" indent="-171450">
              <a:buFont typeface="Arial" panose="020B0604020202020204" pitchFamily="34" charset="0"/>
              <a:buChar char="•"/>
            </a:pPr>
            <a:r>
              <a:rPr lang="hu-HU" sz="1200" kern="1200" dirty="0">
                <a:solidFill>
                  <a:schemeClr val="tx1"/>
                </a:solidFill>
                <a:effectLst/>
                <a:latin typeface="+mn-lt"/>
                <a:ea typeface="+mn-ea"/>
                <a:cs typeface="+mn-cs"/>
              </a:rPr>
              <a:t>egyszerűbben bővíthető, </a:t>
            </a:r>
          </a:p>
          <a:p>
            <a:pPr marL="171450" lvl="0" indent="-171450">
              <a:buFont typeface="Arial" panose="020B0604020202020204" pitchFamily="34" charset="0"/>
              <a:buChar char="•"/>
            </a:pPr>
            <a:r>
              <a:rPr lang="hu-HU" sz="1200" kern="1200" dirty="0">
                <a:solidFill>
                  <a:schemeClr val="tx1"/>
                </a:solidFill>
                <a:effectLst/>
                <a:latin typeface="+mn-lt"/>
                <a:ea typeface="+mn-ea"/>
                <a:cs typeface="+mn-cs"/>
              </a:rPr>
              <a:t>több fejlesztő számára is átláthatóbb, </a:t>
            </a:r>
          </a:p>
          <a:p>
            <a:pPr marL="171450" lvl="0" indent="-171450">
              <a:buFont typeface="Arial" panose="020B0604020202020204" pitchFamily="34" charset="0"/>
              <a:buChar char="•"/>
            </a:pPr>
            <a:r>
              <a:rPr lang="hu-HU" sz="1200" kern="1200" dirty="0">
                <a:solidFill>
                  <a:schemeClr val="tx1"/>
                </a:solidFill>
                <a:effectLst/>
                <a:latin typeface="+mn-lt"/>
                <a:ea typeface="+mn-ea"/>
                <a:cs typeface="+mn-cs"/>
              </a:rPr>
              <a:t>hibakeresés szempontjából is hatékonyabb. </a:t>
            </a:r>
          </a:p>
          <a:p>
            <a:r>
              <a:rPr lang="hu-HU" sz="1200" kern="1200" dirty="0">
                <a:solidFill>
                  <a:schemeClr val="tx1"/>
                </a:solidFill>
                <a:effectLst/>
                <a:latin typeface="+mn-lt"/>
                <a:ea typeface="+mn-ea"/>
                <a:cs typeface="+mn-cs"/>
              </a:rPr>
              <a:t> </a:t>
            </a:r>
          </a:p>
          <a:p>
            <a:r>
              <a:rPr lang="hu-HU" sz="1200" kern="1200" dirty="0">
                <a:solidFill>
                  <a:schemeClr val="tx1"/>
                </a:solidFill>
                <a:effectLst/>
                <a:latin typeface="+mn-lt"/>
                <a:ea typeface="+mn-ea"/>
                <a:cs typeface="+mn-cs"/>
              </a:rPr>
              <a:t>Az ASP.NET </a:t>
            </a:r>
            <a:r>
              <a:rPr lang="hu-HU" sz="1200" kern="1200" dirty="0" err="1">
                <a:solidFill>
                  <a:schemeClr val="tx1"/>
                </a:solidFill>
                <a:effectLst/>
                <a:latin typeface="+mn-lt"/>
                <a:ea typeface="+mn-ea"/>
                <a:cs typeface="+mn-cs"/>
              </a:rPr>
              <a:t>Core</a:t>
            </a:r>
            <a:r>
              <a:rPr lang="hu-HU" sz="1200" kern="1200" dirty="0">
                <a:solidFill>
                  <a:schemeClr val="tx1"/>
                </a:solidFill>
                <a:effectLst/>
                <a:latin typeface="+mn-lt"/>
                <a:ea typeface="+mn-ea"/>
                <a:cs typeface="+mn-cs"/>
              </a:rPr>
              <a:t> MVC technológia széles körben használatos vállalati környezetben is, mivel stabilitása, biztonsági megoldásai, teljesítménye és skálázhatósága alkalmassá teszi nagy felhasználószámú rendszerek kiszolgálására is. Nagyvállalati alkalmazásoknál gyakori követelmény, hogy a backend logika, az adatkezelés és a felhasználói megjelenítés egymástól függetlenül fejleszthető legyen. Az MVC ezt pontosan biztosítja.</a:t>
            </a:r>
          </a:p>
          <a:p>
            <a:endParaRPr lang="hu-HU" dirty="0"/>
          </a:p>
        </p:txBody>
      </p:sp>
      <p:sp>
        <p:nvSpPr>
          <p:cNvPr id="4" name="Dia számának helye 3"/>
          <p:cNvSpPr>
            <a:spLocks noGrp="1"/>
          </p:cNvSpPr>
          <p:nvPr>
            <p:ph type="sldNum" sz="quarter" idx="5"/>
          </p:nvPr>
        </p:nvSpPr>
        <p:spPr/>
        <p:txBody>
          <a:bodyPr/>
          <a:lstStyle/>
          <a:p>
            <a:fld id="{DE52EEBA-1233-41A5-B150-5DD102CFDAF5}" type="slidenum">
              <a:rPr lang="hu-HU" smtClean="0"/>
              <a:t>5</a:t>
            </a:fld>
            <a:endParaRPr lang="hu-HU"/>
          </a:p>
        </p:txBody>
      </p:sp>
    </p:spTree>
    <p:extLst>
      <p:ext uri="{BB962C8B-B14F-4D97-AF65-F5344CB8AC3E}">
        <p14:creationId xmlns:p14="http://schemas.microsoft.com/office/powerpoint/2010/main" val="3756506926"/>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Diakép helye 1"/>
          <p:cNvSpPr>
            <a:spLocks noGrp="1" noRot="1" noChangeAspect="1"/>
          </p:cNvSpPr>
          <p:nvPr>
            <p:ph type="sldImg"/>
          </p:nvPr>
        </p:nvSpPr>
        <p:spPr/>
      </p:sp>
      <p:sp>
        <p:nvSpPr>
          <p:cNvPr id="3" name="Jegyzetek helye 2"/>
          <p:cNvSpPr>
            <a:spLocks noGrp="1"/>
          </p:cNvSpPr>
          <p:nvPr>
            <p:ph type="body" idx="1"/>
          </p:nvPr>
        </p:nvSpPr>
        <p:spPr/>
        <p:txBody>
          <a:bodyPr/>
          <a:lstStyle/>
          <a:p>
            <a:r>
              <a:rPr lang="hu-HU" sz="1200" kern="1200" dirty="0">
                <a:solidFill>
                  <a:schemeClr val="tx1"/>
                </a:solidFill>
                <a:effectLst/>
                <a:latin typeface="+mn-lt"/>
                <a:ea typeface="+mn-ea"/>
                <a:cs typeface="+mn-cs"/>
              </a:rPr>
              <a:t>Az alkalmazás működésének alapja, hogy a felhasználó böngészőből érkező kérése először egy </a:t>
            </a:r>
            <a:r>
              <a:rPr lang="hu-HU" sz="1200" kern="1200" dirty="0" err="1">
                <a:solidFill>
                  <a:schemeClr val="tx1"/>
                </a:solidFill>
                <a:effectLst/>
                <a:latin typeface="+mn-lt"/>
                <a:ea typeface="+mn-ea"/>
                <a:cs typeface="+mn-cs"/>
              </a:rPr>
              <a:t>Controller</a:t>
            </a:r>
            <a:r>
              <a:rPr lang="hu-HU" sz="1200" kern="1200" dirty="0">
                <a:solidFill>
                  <a:schemeClr val="tx1"/>
                </a:solidFill>
                <a:effectLst/>
                <a:latin typeface="+mn-lt"/>
                <a:ea typeface="+mn-ea"/>
                <a:cs typeface="+mn-cs"/>
              </a:rPr>
              <a:t> osztályhoz érkezik meg.</a:t>
            </a:r>
          </a:p>
          <a:p>
            <a:r>
              <a:rPr lang="hu-HU" sz="1200" kern="1200" dirty="0">
                <a:solidFill>
                  <a:schemeClr val="tx1"/>
                </a:solidFill>
                <a:effectLst/>
                <a:latin typeface="+mn-lt"/>
                <a:ea typeface="+mn-ea"/>
                <a:cs typeface="+mn-cs"/>
              </a:rPr>
              <a:t>A </a:t>
            </a:r>
            <a:r>
              <a:rPr lang="hu-HU" sz="1200" kern="1200" dirty="0" err="1">
                <a:solidFill>
                  <a:schemeClr val="tx1"/>
                </a:solidFill>
                <a:effectLst/>
                <a:latin typeface="+mn-lt"/>
                <a:ea typeface="+mn-ea"/>
                <a:cs typeface="+mn-cs"/>
              </a:rPr>
              <a:t>controller</a:t>
            </a:r>
            <a:r>
              <a:rPr lang="hu-HU" sz="1200" kern="1200" dirty="0">
                <a:solidFill>
                  <a:schemeClr val="tx1"/>
                </a:solidFill>
                <a:effectLst/>
                <a:latin typeface="+mn-lt"/>
                <a:ea typeface="+mn-ea"/>
                <a:cs typeface="+mn-cs"/>
              </a:rPr>
              <a:t> feldolgozza a kérést, szükség esetén adatokat kér le az adatbázisból a modelleken keresztül, majd kiválasztja azt a nézetet (</a:t>
            </a:r>
            <a:r>
              <a:rPr lang="hu-HU" sz="1200" kern="1200" dirty="0" err="1">
                <a:solidFill>
                  <a:schemeClr val="tx1"/>
                </a:solidFill>
                <a:effectLst/>
                <a:latin typeface="+mn-lt"/>
                <a:ea typeface="+mn-ea"/>
                <a:cs typeface="+mn-cs"/>
              </a:rPr>
              <a:t>View</a:t>
            </a:r>
            <a:r>
              <a:rPr lang="hu-HU" sz="1200" kern="1200" dirty="0">
                <a:solidFill>
                  <a:schemeClr val="tx1"/>
                </a:solidFill>
                <a:effectLst/>
                <a:latin typeface="+mn-lt"/>
                <a:ea typeface="+mn-ea"/>
                <a:cs typeface="+mn-cs"/>
              </a:rPr>
              <a:t>), amely a felhasználónak megjelenítésre kerül.</a:t>
            </a:r>
          </a:p>
          <a:p>
            <a:endParaRPr lang="hu-HU" sz="1200" kern="1200" dirty="0">
              <a:solidFill>
                <a:schemeClr val="tx1"/>
              </a:solidFill>
              <a:effectLst/>
              <a:latin typeface="+mn-lt"/>
              <a:ea typeface="+mn-ea"/>
              <a:cs typeface="+mn-cs"/>
            </a:endParaRPr>
          </a:p>
          <a:p>
            <a:r>
              <a:rPr lang="hu-HU" sz="1200" kern="1200" dirty="0">
                <a:solidFill>
                  <a:schemeClr val="tx1"/>
                </a:solidFill>
                <a:effectLst/>
                <a:latin typeface="+mn-lt"/>
                <a:ea typeface="+mn-ea"/>
                <a:cs typeface="+mn-cs"/>
              </a:rPr>
              <a:t>Ez a működési logika a projektben minden fő funkciónál megfigyelhető.</a:t>
            </a:r>
          </a:p>
          <a:p>
            <a:endParaRPr lang="hu-HU" sz="1200" kern="1200" dirty="0">
              <a:solidFill>
                <a:schemeClr val="tx1"/>
              </a:solidFill>
              <a:effectLst/>
              <a:latin typeface="+mn-lt"/>
              <a:ea typeface="+mn-ea"/>
              <a:cs typeface="+mn-cs"/>
            </a:endParaRPr>
          </a:p>
          <a:p>
            <a:r>
              <a:rPr lang="hu-HU" sz="1200" kern="1200" dirty="0">
                <a:solidFill>
                  <a:schemeClr val="tx1"/>
                </a:solidFill>
                <a:effectLst/>
                <a:latin typeface="+mn-lt"/>
                <a:ea typeface="+mn-ea"/>
                <a:cs typeface="+mn-cs"/>
              </a:rPr>
              <a:t>A projektünk kicsiben ugyanazt az architektúrát használja, mint amit nagyvállalati rendszerekben is alkalmaznak.</a:t>
            </a:r>
          </a:p>
          <a:p>
            <a:endParaRPr lang="hu-HU" sz="1200" kern="1200" dirty="0">
              <a:solidFill>
                <a:schemeClr val="tx1"/>
              </a:solidFill>
              <a:effectLst/>
              <a:latin typeface="+mn-lt"/>
              <a:ea typeface="+mn-ea"/>
              <a:cs typeface="+mn-cs"/>
            </a:endParaRPr>
          </a:p>
          <a:p>
            <a:r>
              <a:rPr lang="hu-HU" sz="1200" kern="1200" dirty="0">
                <a:solidFill>
                  <a:schemeClr val="tx1"/>
                </a:solidFill>
                <a:effectLst/>
                <a:latin typeface="+mn-lt"/>
                <a:ea typeface="+mn-ea"/>
                <a:cs typeface="+mn-cs"/>
              </a:rPr>
              <a:t>A projekt során tudatosan választottuk az MVC architektúrát, mert ez biztosította azt, hogy az alkalmazás üzleti logikája, adatkezelése és felhasználói megjelenítése egymástól elkülönítetten, jól strukturált módon valósuljon meg, ami hosszú távon megkönnyíti a rendszer továbbfejlesztését és karbantartását.</a:t>
            </a:r>
          </a:p>
          <a:p>
            <a:endParaRPr lang="hu-HU" sz="1200" kern="1200" dirty="0">
              <a:solidFill>
                <a:schemeClr val="tx1"/>
              </a:solidFill>
              <a:effectLst/>
              <a:latin typeface="+mn-lt"/>
              <a:ea typeface="+mn-ea"/>
              <a:cs typeface="+mn-cs"/>
            </a:endParaRPr>
          </a:p>
          <a:p>
            <a:endParaRPr lang="hu-HU" dirty="0"/>
          </a:p>
        </p:txBody>
      </p:sp>
      <p:sp>
        <p:nvSpPr>
          <p:cNvPr id="4" name="Dia számának helye 3"/>
          <p:cNvSpPr>
            <a:spLocks noGrp="1"/>
          </p:cNvSpPr>
          <p:nvPr>
            <p:ph type="sldNum" sz="quarter" idx="5"/>
          </p:nvPr>
        </p:nvSpPr>
        <p:spPr/>
        <p:txBody>
          <a:bodyPr/>
          <a:lstStyle/>
          <a:p>
            <a:fld id="{DE52EEBA-1233-41A5-B150-5DD102CFDAF5}" type="slidenum">
              <a:rPr lang="hu-HU" smtClean="0"/>
              <a:t>6</a:t>
            </a:fld>
            <a:endParaRPr lang="hu-HU"/>
          </a:p>
        </p:txBody>
      </p:sp>
    </p:spTree>
    <p:extLst>
      <p:ext uri="{BB962C8B-B14F-4D97-AF65-F5344CB8AC3E}">
        <p14:creationId xmlns:p14="http://schemas.microsoft.com/office/powerpoint/2010/main" val="52289450"/>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Diakép helye 1"/>
          <p:cNvSpPr>
            <a:spLocks noGrp="1" noRot="1" noChangeAspect="1"/>
          </p:cNvSpPr>
          <p:nvPr>
            <p:ph type="sldImg"/>
          </p:nvPr>
        </p:nvSpPr>
        <p:spPr/>
      </p:sp>
      <p:sp>
        <p:nvSpPr>
          <p:cNvPr id="3" name="Jegyzetek helye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hu-HU" sz="1200" b="1" kern="1200" dirty="0">
                <a:solidFill>
                  <a:schemeClr val="tx1"/>
                </a:solidFill>
                <a:effectLst/>
                <a:latin typeface="+mn-lt"/>
                <a:ea typeface="+mn-ea"/>
                <a:cs typeface="+mn-cs"/>
              </a:rPr>
              <a:t>Fejlesztői gépen használt szoftverek</a:t>
            </a:r>
          </a:p>
          <a:p>
            <a:r>
              <a:rPr lang="hu-HU" sz="1200" b="1" kern="1200" dirty="0">
                <a:solidFill>
                  <a:schemeClr val="tx1"/>
                </a:solidFill>
                <a:effectLst/>
                <a:latin typeface="+mn-lt"/>
                <a:ea typeface="+mn-ea"/>
                <a:cs typeface="+mn-cs"/>
              </a:rPr>
              <a:t>Visual </a:t>
            </a:r>
            <a:r>
              <a:rPr lang="hu-HU" sz="1200" b="1" kern="1200" dirty="0" err="1">
                <a:solidFill>
                  <a:schemeClr val="tx1"/>
                </a:solidFill>
                <a:effectLst/>
                <a:latin typeface="+mn-lt"/>
                <a:ea typeface="+mn-ea"/>
                <a:cs typeface="+mn-cs"/>
              </a:rPr>
              <a:t>Studio</a:t>
            </a:r>
            <a:r>
              <a:rPr lang="hu-HU" sz="1200" b="1" kern="1200" dirty="0">
                <a:solidFill>
                  <a:schemeClr val="tx1"/>
                </a:solidFill>
                <a:effectLst/>
                <a:latin typeface="+mn-lt"/>
                <a:ea typeface="+mn-ea"/>
                <a:cs typeface="+mn-cs"/>
              </a:rPr>
              <a:t> 2022</a:t>
            </a:r>
          </a:p>
          <a:p>
            <a:r>
              <a:rPr lang="hu-HU" sz="1200" kern="1200" dirty="0">
                <a:solidFill>
                  <a:schemeClr val="tx1"/>
                </a:solidFill>
                <a:effectLst/>
                <a:latin typeface="+mn-lt"/>
                <a:ea typeface="+mn-ea"/>
                <a:cs typeface="+mn-cs"/>
              </a:rPr>
              <a:t>A teljes projekt fejlesztése ebben a környezetben történt.</a:t>
            </a:r>
          </a:p>
          <a:p>
            <a:pPr marL="171450" indent="-171450">
              <a:buFont typeface="Arial" panose="020B0604020202020204" pitchFamily="34" charset="0"/>
              <a:buChar char="•"/>
            </a:pPr>
            <a:r>
              <a:rPr lang="hu-HU" sz="1200" kern="1200" dirty="0">
                <a:solidFill>
                  <a:schemeClr val="tx1"/>
                </a:solidFill>
                <a:effectLst/>
                <a:latin typeface="+mn-lt"/>
                <a:ea typeface="+mn-ea"/>
                <a:cs typeface="+mn-cs"/>
              </a:rPr>
              <a:t>A Visual </a:t>
            </a:r>
            <a:r>
              <a:rPr lang="hu-HU" sz="1200" kern="1200" dirty="0" err="1">
                <a:solidFill>
                  <a:schemeClr val="tx1"/>
                </a:solidFill>
                <a:effectLst/>
                <a:latin typeface="+mn-lt"/>
                <a:ea typeface="+mn-ea"/>
                <a:cs typeface="+mn-cs"/>
              </a:rPr>
              <a:t>Studio</a:t>
            </a:r>
            <a:r>
              <a:rPr lang="hu-HU" sz="1200" kern="1200" dirty="0">
                <a:solidFill>
                  <a:schemeClr val="tx1"/>
                </a:solidFill>
                <a:effectLst/>
                <a:latin typeface="+mn-lt"/>
                <a:ea typeface="+mn-ea"/>
                <a:cs typeface="+mn-cs"/>
              </a:rPr>
              <a:t> előnyei:</a:t>
            </a:r>
          </a:p>
          <a:p>
            <a:pPr marL="171450" lvl="0" indent="-171450">
              <a:buFont typeface="Arial" panose="020B0604020202020204" pitchFamily="34" charset="0"/>
              <a:buChar char="•"/>
            </a:pPr>
            <a:r>
              <a:rPr lang="hu-HU" sz="1200" kern="1200" dirty="0">
                <a:solidFill>
                  <a:schemeClr val="tx1"/>
                </a:solidFill>
                <a:effectLst/>
                <a:latin typeface="+mn-lt"/>
                <a:ea typeface="+mn-ea"/>
                <a:cs typeface="+mn-cs"/>
              </a:rPr>
              <a:t>beépített hibakereső, </a:t>
            </a:r>
          </a:p>
          <a:p>
            <a:pPr marL="171450" lvl="0" indent="-171450">
              <a:buFont typeface="Arial" panose="020B0604020202020204" pitchFamily="34" charset="0"/>
              <a:buChar char="•"/>
            </a:pPr>
            <a:r>
              <a:rPr lang="hu-HU" sz="1200" kern="1200" dirty="0" err="1">
                <a:solidFill>
                  <a:schemeClr val="tx1"/>
                </a:solidFill>
                <a:effectLst/>
                <a:latin typeface="+mn-lt"/>
                <a:ea typeface="+mn-ea"/>
                <a:cs typeface="+mn-cs"/>
              </a:rPr>
              <a:t>IntelliSense</a:t>
            </a:r>
            <a:r>
              <a:rPr lang="hu-HU" sz="1200" kern="1200" dirty="0">
                <a:solidFill>
                  <a:schemeClr val="tx1"/>
                </a:solidFill>
                <a:effectLst/>
                <a:latin typeface="+mn-lt"/>
                <a:ea typeface="+mn-ea"/>
                <a:cs typeface="+mn-cs"/>
              </a:rPr>
              <a:t> kódkiegészítés, </a:t>
            </a:r>
          </a:p>
          <a:p>
            <a:pPr marL="171450" lvl="0" indent="-171450">
              <a:buFont typeface="Arial" panose="020B0604020202020204" pitchFamily="34" charset="0"/>
              <a:buChar char="•"/>
            </a:pPr>
            <a:r>
              <a:rPr lang="hu-HU" sz="1200" kern="1200" dirty="0">
                <a:solidFill>
                  <a:schemeClr val="tx1"/>
                </a:solidFill>
                <a:effectLst/>
                <a:latin typeface="+mn-lt"/>
                <a:ea typeface="+mn-ea"/>
                <a:cs typeface="+mn-cs"/>
              </a:rPr>
              <a:t>ASP.NET projektkezelés, </a:t>
            </a:r>
          </a:p>
          <a:p>
            <a:pPr marL="171450" lvl="0" indent="-171450">
              <a:buFont typeface="Arial" panose="020B0604020202020204" pitchFamily="34" charset="0"/>
              <a:buChar char="•"/>
            </a:pPr>
            <a:r>
              <a:rPr lang="hu-HU" sz="1200" kern="1200" dirty="0">
                <a:solidFill>
                  <a:schemeClr val="tx1"/>
                </a:solidFill>
                <a:effectLst/>
                <a:latin typeface="+mn-lt"/>
                <a:ea typeface="+mn-ea"/>
                <a:cs typeface="+mn-cs"/>
              </a:rPr>
              <a:t>közvetlen SQL kapcsolat. </a:t>
            </a:r>
          </a:p>
          <a:p>
            <a:r>
              <a:rPr lang="hu-HU" sz="1200" kern="1200" dirty="0">
                <a:solidFill>
                  <a:schemeClr val="tx1"/>
                </a:solidFill>
                <a:effectLst/>
                <a:latin typeface="+mn-lt"/>
                <a:ea typeface="+mn-ea"/>
                <a:cs typeface="+mn-cs"/>
              </a:rPr>
              <a:t>Ez különösen hasznos volt a </a:t>
            </a:r>
            <a:r>
              <a:rPr lang="hu-HU" sz="1200" kern="1200" dirty="0" err="1">
                <a:solidFill>
                  <a:schemeClr val="tx1"/>
                </a:solidFill>
                <a:effectLst/>
                <a:latin typeface="+mn-lt"/>
                <a:ea typeface="+mn-ea"/>
                <a:cs typeface="+mn-cs"/>
              </a:rPr>
              <a:t>Controller</a:t>
            </a:r>
            <a:r>
              <a:rPr lang="hu-HU" sz="1200" kern="1200" dirty="0">
                <a:solidFill>
                  <a:schemeClr val="tx1"/>
                </a:solidFill>
                <a:effectLst/>
                <a:latin typeface="+mn-lt"/>
                <a:ea typeface="+mn-ea"/>
                <a:cs typeface="+mn-cs"/>
              </a:rPr>
              <a:t> és </a:t>
            </a:r>
            <a:r>
              <a:rPr lang="hu-HU" sz="1200" kern="1200" dirty="0" err="1">
                <a:solidFill>
                  <a:schemeClr val="tx1"/>
                </a:solidFill>
                <a:effectLst/>
                <a:latin typeface="+mn-lt"/>
                <a:ea typeface="+mn-ea"/>
                <a:cs typeface="+mn-cs"/>
              </a:rPr>
              <a:t>Model</a:t>
            </a:r>
            <a:r>
              <a:rPr lang="hu-HU" sz="1200" kern="1200" dirty="0">
                <a:solidFill>
                  <a:schemeClr val="tx1"/>
                </a:solidFill>
                <a:effectLst/>
                <a:latin typeface="+mn-lt"/>
                <a:ea typeface="+mn-ea"/>
                <a:cs typeface="+mn-cs"/>
              </a:rPr>
              <a:t> rétegek fejlesztésénél.</a:t>
            </a:r>
          </a:p>
          <a:p>
            <a:r>
              <a:rPr lang="hu-HU" sz="1200" b="1" kern="1200" dirty="0">
                <a:solidFill>
                  <a:schemeClr val="tx1"/>
                </a:solidFill>
                <a:effectLst/>
                <a:latin typeface="+mn-lt"/>
                <a:ea typeface="+mn-ea"/>
                <a:cs typeface="+mn-cs"/>
              </a:rPr>
              <a:t>GitHub verziókezelés</a:t>
            </a:r>
          </a:p>
          <a:p>
            <a:r>
              <a:rPr lang="hu-HU" sz="1200" kern="1200" dirty="0">
                <a:solidFill>
                  <a:schemeClr val="tx1"/>
                </a:solidFill>
                <a:effectLst/>
                <a:latin typeface="+mn-lt"/>
                <a:ea typeface="+mn-ea"/>
                <a:cs typeface="+mn-cs"/>
              </a:rPr>
              <a:t>A projekt verziókövetése GitHub segítségével történt.</a:t>
            </a:r>
          </a:p>
          <a:p>
            <a:r>
              <a:rPr lang="hu-HU" sz="1200" kern="1200" dirty="0">
                <a:solidFill>
                  <a:schemeClr val="tx1"/>
                </a:solidFill>
                <a:effectLst/>
                <a:latin typeface="+mn-lt"/>
                <a:ea typeface="+mn-ea"/>
                <a:cs typeface="+mn-cs"/>
              </a:rPr>
              <a:t>Ez biztosította:</a:t>
            </a:r>
          </a:p>
          <a:p>
            <a:pPr marL="171450" lvl="0" indent="-171450">
              <a:buFont typeface="Arial" panose="020B0604020202020204" pitchFamily="34" charset="0"/>
              <a:buChar char="•"/>
            </a:pPr>
            <a:r>
              <a:rPr lang="hu-HU" sz="1200" kern="1200" dirty="0">
                <a:solidFill>
                  <a:schemeClr val="tx1"/>
                </a:solidFill>
                <a:effectLst/>
                <a:latin typeface="+mn-lt"/>
                <a:ea typeface="+mn-ea"/>
                <a:cs typeface="+mn-cs"/>
              </a:rPr>
              <a:t>a fejlesztési lépések visszakövethetőségét, </a:t>
            </a:r>
          </a:p>
          <a:p>
            <a:pPr marL="171450" lvl="0" indent="-171450">
              <a:buFont typeface="Arial" panose="020B0604020202020204" pitchFamily="34" charset="0"/>
              <a:buChar char="•"/>
            </a:pPr>
            <a:r>
              <a:rPr lang="hu-HU" sz="1200" kern="1200" dirty="0">
                <a:solidFill>
                  <a:schemeClr val="tx1"/>
                </a:solidFill>
                <a:effectLst/>
                <a:latin typeface="+mn-lt"/>
                <a:ea typeface="+mn-ea"/>
                <a:cs typeface="+mn-cs"/>
              </a:rPr>
              <a:t>a változtatások dokumentálását, </a:t>
            </a:r>
          </a:p>
          <a:p>
            <a:pPr marL="171450" lvl="0" indent="-171450">
              <a:buFont typeface="Arial" panose="020B0604020202020204" pitchFamily="34" charset="0"/>
              <a:buChar char="•"/>
            </a:pPr>
            <a:r>
              <a:rPr lang="hu-HU" sz="1200" kern="1200" dirty="0">
                <a:solidFill>
                  <a:schemeClr val="tx1"/>
                </a:solidFill>
                <a:effectLst/>
                <a:latin typeface="+mn-lt"/>
                <a:ea typeface="+mn-ea"/>
                <a:cs typeface="+mn-cs"/>
              </a:rPr>
              <a:t>a közös munkavégzés biztonságát. </a:t>
            </a:r>
          </a:p>
          <a:p>
            <a:r>
              <a:rPr lang="hu-HU" sz="1200" b="1" kern="1200" dirty="0">
                <a:solidFill>
                  <a:schemeClr val="tx1"/>
                </a:solidFill>
                <a:effectLst/>
                <a:latin typeface="+mn-lt"/>
                <a:ea typeface="+mn-ea"/>
                <a:cs typeface="+mn-cs"/>
              </a:rPr>
              <a:t>SQL Server Management </a:t>
            </a:r>
            <a:r>
              <a:rPr lang="hu-HU" sz="1200" b="1" kern="1200" dirty="0" err="1">
                <a:solidFill>
                  <a:schemeClr val="tx1"/>
                </a:solidFill>
                <a:effectLst/>
                <a:latin typeface="+mn-lt"/>
                <a:ea typeface="+mn-ea"/>
                <a:cs typeface="+mn-cs"/>
              </a:rPr>
              <a:t>Studio</a:t>
            </a:r>
            <a:endParaRPr lang="hu-HU" sz="1200" b="1" kern="1200" dirty="0">
              <a:solidFill>
                <a:schemeClr val="tx1"/>
              </a:solidFill>
              <a:effectLst/>
              <a:latin typeface="+mn-lt"/>
              <a:ea typeface="+mn-ea"/>
              <a:cs typeface="+mn-cs"/>
            </a:endParaRPr>
          </a:p>
          <a:p>
            <a:r>
              <a:rPr lang="hu-HU" sz="1200" kern="1200" dirty="0">
                <a:solidFill>
                  <a:schemeClr val="tx1"/>
                </a:solidFill>
                <a:effectLst/>
                <a:latin typeface="+mn-lt"/>
                <a:ea typeface="+mn-ea"/>
                <a:cs typeface="+mn-cs"/>
              </a:rPr>
              <a:t>Az adatbázis kezelésére SQL Server környezetet használtunk.</a:t>
            </a:r>
          </a:p>
          <a:p>
            <a:r>
              <a:rPr lang="hu-HU" sz="1200" kern="1200" dirty="0">
                <a:solidFill>
                  <a:schemeClr val="tx1"/>
                </a:solidFill>
                <a:effectLst/>
                <a:latin typeface="+mn-lt"/>
                <a:ea typeface="+mn-ea"/>
                <a:cs typeface="+mn-cs"/>
              </a:rPr>
              <a:t>Itt történt:</a:t>
            </a:r>
          </a:p>
          <a:p>
            <a:pPr marL="171450" lvl="0" indent="-171450">
              <a:buFont typeface="Arial" panose="020B0604020202020204" pitchFamily="34" charset="0"/>
              <a:buChar char="•"/>
            </a:pPr>
            <a:r>
              <a:rPr lang="hu-HU" sz="1200" kern="1200" dirty="0">
                <a:solidFill>
                  <a:schemeClr val="tx1"/>
                </a:solidFill>
                <a:effectLst/>
                <a:latin typeface="+mn-lt"/>
                <a:ea typeface="+mn-ea"/>
                <a:cs typeface="+mn-cs"/>
              </a:rPr>
              <a:t>adatbázis létrehozása, </a:t>
            </a:r>
          </a:p>
          <a:p>
            <a:pPr marL="171450" lvl="0" indent="-171450">
              <a:buFont typeface="Arial" panose="020B0604020202020204" pitchFamily="34" charset="0"/>
              <a:buChar char="•"/>
            </a:pPr>
            <a:r>
              <a:rPr lang="hu-HU" sz="1200" kern="1200" dirty="0">
                <a:solidFill>
                  <a:schemeClr val="tx1"/>
                </a:solidFill>
                <a:effectLst/>
                <a:latin typeface="+mn-lt"/>
                <a:ea typeface="+mn-ea"/>
                <a:cs typeface="+mn-cs"/>
              </a:rPr>
              <a:t>táblák ellenőrzése, </a:t>
            </a:r>
          </a:p>
          <a:p>
            <a:pPr marL="171450" lvl="0" indent="-171450">
              <a:buFont typeface="Arial" panose="020B0604020202020204" pitchFamily="34" charset="0"/>
              <a:buChar char="•"/>
            </a:pPr>
            <a:r>
              <a:rPr lang="hu-HU" sz="1200" kern="1200" dirty="0">
                <a:solidFill>
                  <a:schemeClr val="tx1"/>
                </a:solidFill>
                <a:effectLst/>
                <a:latin typeface="+mn-lt"/>
                <a:ea typeface="+mn-ea"/>
                <a:cs typeface="+mn-cs"/>
              </a:rPr>
              <a:t>adatok tesztelése. </a:t>
            </a:r>
          </a:p>
          <a:p>
            <a:pPr marL="0" lvl="0" indent="0">
              <a:buFont typeface="Arial" panose="020B0604020202020204" pitchFamily="34" charset="0"/>
              <a:buNone/>
            </a:pPr>
            <a:endParaRPr lang="hu-HU" sz="1200" kern="1200" dirty="0">
              <a:solidFill>
                <a:schemeClr val="tx1"/>
              </a:solidFill>
              <a:effectLst/>
              <a:latin typeface="+mn-lt"/>
              <a:ea typeface="+mn-ea"/>
              <a:cs typeface="+mn-cs"/>
            </a:endParaRPr>
          </a:p>
          <a:p>
            <a:pPr marL="0" marR="0" lvl="0" indent="0" algn="l" defTabSz="914400" rtl="0" eaLnBrk="1" fontAlgn="auto" latinLnBrk="0" hangingPunct="1">
              <a:lnSpc>
                <a:spcPct val="100000"/>
              </a:lnSpc>
              <a:spcBef>
                <a:spcPts val="0"/>
              </a:spcBef>
              <a:spcAft>
                <a:spcPts val="0"/>
              </a:spcAft>
              <a:buClrTx/>
              <a:buSzTx/>
              <a:buFont typeface="Arial" panose="020B0604020202020204" pitchFamily="34" charset="0"/>
              <a:buNone/>
              <a:tabLst/>
              <a:defRPr/>
            </a:pPr>
            <a:r>
              <a:rPr lang="hu-HU" sz="1200" b="1" kern="1200" dirty="0">
                <a:solidFill>
                  <a:schemeClr val="tx1"/>
                </a:solidFill>
                <a:effectLst/>
                <a:latin typeface="+mn-lt"/>
                <a:ea typeface="+mn-ea"/>
                <a:cs typeface="+mn-cs"/>
              </a:rPr>
              <a:t>Szerveroldali futtatási környezet</a:t>
            </a:r>
          </a:p>
          <a:p>
            <a:r>
              <a:rPr lang="hu-HU" sz="1200" kern="1200" dirty="0">
                <a:solidFill>
                  <a:schemeClr val="tx1"/>
                </a:solidFill>
                <a:effectLst/>
                <a:latin typeface="+mn-lt"/>
                <a:ea typeface="+mn-ea"/>
                <a:cs typeface="+mn-cs"/>
              </a:rPr>
              <a:t>A projekt .NET 8 futtatási környezetet használ.</a:t>
            </a:r>
          </a:p>
          <a:p>
            <a:r>
              <a:rPr lang="hu-HU" sz="1200" kern="1200" dirty="0">
                <a:solidFill>
                  <a:schemeClr val="tx1"/>
                </a:solidFill>
                <a:effectLst/>
                <a:latin typeface="+mn-lt"/>
                <a:ea typeface="+mn-ea"/>
                <a:cs typeface="+mn-cs"/>
              </a:rPr>
              <a:t>A szerveroldali működéshez szükséges:</a:t>
            </a:r>
          </a:p>
          <a:p>
            <a:pPr marL="171450" lvl="0" indent="-171450">
              <a:buFont typeface="Arial" panose="020B0604020202020204" pitchFamily="34" charset="0"/>
              <a:buChar char="•"/>
            </a:pPr>
            <a:r>
              <a:rPr lang="hu-HU" sz="1200" kern="1200" dirty="0">
                <a:solidFill>
                  <a:schemeClr val="tx1"/>
                </a:solidFill>
                <a:effectLst/>
                <a:latin typeface="+mn-lt"/>
                <a:ea typeface="+mn-ea"/>
                <a:cs typeface="+mn-cs"/>
              </a:rPr>
              <a:t>ASP.NET </a:t>
            </a:r>
            <a:r>
              <a:rPr lang="hu-HU" sz="1200" kern="1200" dirty="0" err="1">
                <a:solidFill>
                  <a:schemeClr val="tx1"/>
                </a:solidFill>
                <a:effectLst/>
                <a:latin typeface="+mn-lt"/>
                <a:ea typeface="+mn-ea"/>
                <a:cs typeface="+mn-cs"/>
              </a:rPr>
              <a:t>Core</a:t>
            </a:r>
            <a:r>
              <a:rPr lang="hu-HU" sz="1200" kern="1200" dirty="0">
                <a:solidFill>
                  <a:schemeClr val="tx1"/>
                </a:solidFill>
                <a:effectLst/>
                <a:latin typeface="+mn-lt"/>
                <a:ea typeface="+mn-ea"/>
                <a:cs typeface="+mn-cs"/>
              </a:rPr>
              <a:t> </a:t>
            </a:r>
            <a:r>
              <a:rPr lang="hu-HU" sz="1200" kern="1200" dirty="0" err="1">
                <a:solidFill>
                  <a:schemeClr val="tx1"/>
                </a:solidFill>
                <a:effectLst/>
                <a:latin typeface="+mn-lt"/>
                <a:ea typeface="+mn-ea"/>
                <a:cs typeface="+mn-cs"/>
              </a:rPr>
              <a:t>Runtime</a:t>
            </a:r>
            <a:r>
              <a:rPr lang="hu-HU" sz="1200" kern="1200" dirty="0">
                <a:solidFill>
                  <a:schemeClr val="tx1"/>
                </a:solidFill>
                <a:effectLst/>
                <a:latin typeface="+mn-lt"/>
                <a:ea typeface="+mn-ea"/>
                <a:cs typeface="+mn-cs"/>
              </a:rPr>
              <a:t> </a:t>
            </a:r>
          </a:p>
          <a:p>
            <a:pPr marL="171450" lvl="0" indent="-171450">
              <a:buFont typeface="Arial" panose="020B0604020202020204" pitchFamily="34" charset="0"/>
              <a:buChar char="•"/>
            </a:pPr>
            <a:r>
              <a:rPr lang="hu-HU" sz="1200" kern="1200" dirty="0">
                <a:solidFill>
                  <a:schemeClr val="tx1"/>
                </a:solidFill>
                <a:effectLst/>
                <a:latin typeface="+mn-lt"/>
                <a:ea typeface="+mn-ea"/>
                <a:cs typeface="+mn-cs"/>
              </a:rPr>
              <a:t>SQL Server adatbázis </a:t>
            </a:r>
          </a:p>
          <a:p>
            <a:r>
              <a:rPr lang="hu-HU" sz="1200" kern="1200" dirty="0">
                <a:solidFill>
                  <a:schemeClr val="tx1"/>
                </a:solidFill>
                <a:effectLst/>
                <a:latin typeface="+mn-lt"/>
                <a:ea typeface="+mn-ea"/>
                <a:cs typeface="+mn-cs"/>
              </a:rPr>
              <a:t>Az alkalmazás konfigurációját az </a:t>
            </a:r>
            <a:r>
              <a:rPr lang="hu-HU" sz="1200" b="1" kern="1200" dirty="0" err="1">
                <a:solidFill>
                  <a:schemeClr val="tx1"/>
                </a:solidFill>
                <a:effectLst/>
                <a:latin typeface="+mn-lt"/>
                <a:ea typeface="+mn-ea"/>
                <a:cs typeface="+mn-cs"/>
              </a:rPr>
              <a:t>appsettings.json</a:t>
            </a:r>
            <a:r>
              <a:rPr lang="hu-HU" sz="1200" kern="1200" dirty="0">
                <a:solidFill>
                  <a:schemeClr val="tx1"/>
                </a:solidFill>
                <a:effectLst/>
                <a:latin typeface="+mn-lt"/>
                <a:ea typeface="+mn-ea"/>
                <a:cs typeface="+mn-cs"/>
              </a:rPr>
              <a:t> állomány tartalmazza.</a:t>
            </a:r>
          </a:p>
          <a:p>
            <a:r>
              <a:rPr lang="hu-HU" sz="1200" kern="1200" dirty="0">
                <a:solidFill>
                  <a:schemeClr val="tx1"/>
                </a:solidFill>
                <a:effectLst/>
                <a:latin typeface="+mn-lt"/>
                <a:ea typeface="+mn-ea"/>
                <a:cs typeface="+mn-cs"/>
              </a:rPr>
              <a:t>Ebben található:</a:t>
            </a:r>
          </a:p>
          <a:p>
            <a:pPr marL="171450" lvl="0" indent="-171450">
              <a:buFont typeface="Arial" panose="020B0604020202020204" pitchFamily="34" charset="0"/>
              <a:buChar char="•"/>
            </a:pPr>
            <a:r>
              <a:rPr lang="hu-HU" sz="1200" kern="1200" dirty="0" err="1">
                <a:solidFill>
                  <a:schemeClr val="tx1"/>
                </a:solidFill>
                <a:effectLst/>
                <a:latin typeface="+mn-lt"/>
                <a:ea typeface="+mn-ea"/>
                <a:cs typeface="+mn-cs"/>
              </a:rPr>
              <a:t>connection</a:t>
            </a:r>
            <a:r>
              <a:rPr lang="hu-HU" sz="1200" kern="1200" dirty="0">
                <a:solidFill>
                  <a:schemeClr val="tx1"/>
                </a:solidFill>
                <a:effectLst/>
                <a:latin typeface="+mn-lt"/>
                <a:ea typeface="+mn-ea"/>
                <a:cs typeface="+mn-cs"/>
              </a:rPr>
              <a:t> </a:t>
            </a:r>
            <a:r>
              <a:rPr lang="hu-HU" sz="1200" kern="1200" dirty="0" err="1">
                <a:solidFill>
                  <a:schemeClr val="tx1"/>
                </a:solidFill>
                <a:effectLst/>
                <a:latin typeface="+mn-lt"/>
                <a:ea typeface="+mn-ea"/>
                <a:cs typeface="+mn-cs"/>
              </a:rPr>
              <a:t>string</a:t>
            </a:r>
            <a:r>
              <a:rPr lang="hu-HU" sz="1200" kern="1200" dirty="0">
                <a:solidFill>
                  <a:schemeClr val="tx1"/>
                </a:solidFill>
                <a:effectLst/>
                <a:latin typeface="+mn-lt"/>
                <a:ea typeface="+mn-ea"/>
                <a:cs typeface="+mn-cs"/>
              </a:rPr>
              <a:t>, </a:t>
            </a:r>
          </a:p>
          <a:p>
            <a:pPr marL="171450" indent="-171450">
              <a:buFont typeface="Arial" panose="020B0604020202020204" pitchFamily="34" charset="0"/>
              <a:buChar char="•"/>
            </a:pPr>
            <a:r>
              <a:rPr lang="hu-HU" sz="1200" kern="1200" dirty="0">
                <a:solidFill>
                  <a:schemeClr val="tx1"/>
                </a:solidFill>
                <a:effectLst/>
                <a:latin typeface="+mn-lt"/>
                <a:ea typeface="+mn-ea"/>
                <a:cs typeface="+mn-cs"/>
              </a:rPr>
              <a:t>adatbázis elérési útvonal.</a:t>
            </a:r>
            <a:endParaRPr lang="hu-HU" dirty="0"/>
          </a:p>
          <a:p>
            <a:endParaRPr lang="hu-HU" dirty="0"/>
          </a:p>
        </p:txBody>
      </p:sp>
      <p:sp>
        <p:nvSpPr>
          <p:cNvPr id="4" name="Dia számának helye 3"/>
          <p:cNvSpPr>
            <a:spLocks noGrp="1"/>
          </p:cNvSpPr>
          <p:nvPr>
            <p:ph type="sldNum" sz="quarter" idx="5"/>
          </p:nvPr>
        </p:nvSpPr>
        <p:spPr/>
        <p:txBody>
          <a:bodyPr/>
          <a:lstStyle/>
          <a:p>
            <a:fld id="{DE52EEBA-1233-41A5-B150-5DD102CFDAF5}" type="slidenum">
              <a:rPr lang="hu-HU" smtClean="0"/>
              <a:t>7</a:t>
            </a:fld>
            <a:endParaRPr lang="hu-HU"/>
          </a:p>
        </p:txBody>
      </p:sp>
    </p:spTree>
    <p:extLst>
      <p:ext uri="{BB962C8B-B14F-4D97-AF65-F5344CB8AC3E}">
        <p14:creationId xmlns:p14="http://schemas.microsoft.com/office/powerpoint/2010/main" val="3735347594"/>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Diakép helye 1"/>
          <p:cNvSpPr>
            <a:spLocks noGrp="1" noRot="1" noChangeAspect="1"/>
          </p:cNvSpPr>
          <p:nvPr>
            <p:ph type="sldImg"/>
          </p:nvPr>
        </p:nvSpPr>
        <p:spPr/>
      </p:sp>
      <p:sp>
        <p:nvSpPr>
          <p:cNvPr id="3" name="Jegyzetek helye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hu-HU" sz="1200" kern="1200" dirty="0">
                <a:solidFill>
                  <a:schemeClr val="tx1"/>
                </a:solidFill>
                <a:effectLst/>
                <a:latin typeface="+mn-lt"/>
                <a:ea typeface="+mn-ea"/>
                <a:cs typeface="+mn-cs"/>
              </a:rPr>
              <a:t>A </a:t>
            </a:r>
            <a:r>
              <a:rPr lang="hu-HU" sz="1200" kern="1200" dirty="0" err="1">
                <a:solidFill>
                  <a:schemeClr val="tx1"/>
                </a:solidFill>
                <a:effectLst/>
                <a:latin typeface="+mn-lt"/>
                <a:ea typeface="+mn-ea"/>
                <a:cs typeface="+mn-cs"/>
              </a:rPr>
              <a:t>KertKérdés</a:t>
            </a:r>
            <a:r>
              <a:rPr lang="hu-HU" sz="1200" kern="1200" dirty="0">
                <a:solidFill>
                  <a:schemeClr val="tx1"/>
                </a:solidFill>
                <a:effectLst/>
                <a:latin typeface="+mn-lt"/>
                <a:ea typeface="+mn-ea"/>
                <a:cs typeface="+mn-cs"/>
              </a:rPr>
              <a:t> alkalmazás relációs adatbázisra épül, amelynek célja a felhasználók, kérdések, válaszok, címkék és jogosultsági kapcsolatok strukturált tárolása. Az adatbázis kialakításánál fontos szempont volt, hogy a rendszer hosszabb távon is bővíthető maradjon, ezért az egyes funkciók külön táblákba kerültek szervezésre.</a:t>
            </a:r>
          </a:p>
          <a:p>
            <a:pPr marL="0" marR="0" lvl="0" indent="0" algn="l" defTabSz="914400" rtl="0" eaLnBrk="1" fontAlgn="auto" latinLnBrk="0" hangingPunct="1">
              <a:lnSpc>
                <a:spcPct val="100000"/>
              </a:lnSpc>
              <a:spcBef>
                <a:spcPts val="0"/>
              </a:spcBef>
              <a:spcAft>
                <a:spcPts val="0"/>
              </a:spcAft>
              <a:buClrTx/>
              <a:buSzTx/>
              <a:buFontTx/>
              <a:buNone/>
              <a:tabLst/>
              <a:defRPr/>
            </a:pPr>
            <a:endParaRPr lang="hu-HU" sz="1200" kern="1200" dirty="0">
              <a:solidFill>
                <a:schemeClr val="tx1"/>
              </a:solidFill>
              <a:effectLst/>
              <a:latin typeface="+mn-lt"/>
              <a:ea typeface="+mn-ea"/>
              <a:cs typeface="+mn-cs"/>
            </a:endParaRPr>
          </a:p>
          <a:p>
            <a:endParaRPr lang="hu-HU" dirty="0"/>
          </a:p>
        </p:txBody>
      </p:sp>
      <p:sp>
        <p:nvSpPr>
          <p:cNvPr id="4" name="Dia számának helye 3"/>
          <p:cNvSpPr>
            <a:spLocks noGrp="1"/>
          </p:cNvSpPr>
          <p:nvPr>
            <p:ph type="sldNum" sz="quarter" idx="5"/>
          </p:nvPr>
        </p:nvSpPr>
        <p:spPr/>
        <p:txBody>
          <a:bodyPr/>
          <a:lstStyle/>
          <a:p>
            <a:fld id="{DE52EEBA-1233-41A5-B150-5DD102CFDAF5}" type="slidenum">
              <a:rPr lang="hu-HU" smtClean="0"/>
              <a:t>8</a:t>
            </a:fld>
            <a:endParaRPr lang="hu-HU"/>
          </a:p>
        </p:txBody>
      </p:sp>
    </p:spTree>
    <p:extLst>
      <p:ext uri="{BB962C8B-B14F-4D97-AF65-F5344CB8AC3E}">
        <p14:creationId xmlns:p14="http://schemas.microsoft.com/office/powerpoint/2010/main" val="685273094"/>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Diakép helye 1"/>
          <p:cNvSpPr>
            <a:spLocks noGrp="1" noRot="1" noChangeAspect="1"/>
          </p:cNvSpPr>
          <p:nvPr>
            <p:ph type="sldImg"/>
          </p:nvPr>
        </p:nvSpPr>
        <p:spPr/>
      </p:sp>
      <p:sp>
        <p:nvSpPr>
          <p:cNvPr id="3" name="Jegyzetek helye 2"/>
          <p:cNvSpPr>
            <a:spLocks noGrp="1"/>
          </p:cNvSpPr>
          <p:nvPr>
            <p:ph type="body" idx="1"/>
          </p:nvPr>
        </p:nvSpPr>
        <p:spPr/>
        <p:txBody>
          <a:bodyPr/>
          <a:lstStyle/>
          <a:p>
            <a:r>
              <a:rPr lang="hu-HU" dirty="0"/>
              <a:t>A projekt egyik fontos adatbázis-kezelési része a kérdések és címkék kapcsolata.</a:t>
            </a:r>
          </a:p>
          <a:p>
            <a:r>
              <a:rPr lang="hu-HU" dirty="0"/>
              <a:t>A rendszerben egy kérdéshez több címke is tartozhat, például paradicsom, öntözés vagy levéltetű. Ugyanakkor ugyanaz a címke több különböző kérdéshez is kapcsolódhat.</a:t>
            </a:r>
          </a:p>
          <a:p>
            <a:r>
              <a:rPr lang="hu-HU" dirty="0"/>
              <a:t>Ez tipikus sok-a-sokhoz kapcsolat, amit relációs adatbázisban nem közvetlenül oldunk meg, hanem egy külön kapcsolótáblával.</a:t>
            </a:r>
          </a:p>
          <a:p>
            <a:r>
              <a:rPr lang="hu-HU" dirty="0"/>
              <a:t>Ezért hoztuk létre a </a:t>
            </a:r>
            <a:r>
              <a:rPr lang="hu-HU" dirty="0" err="1"/>
              <a:t>KerdesCimkek</a:t>
            </a:r>
            <a:r>
              <a:rPr lang="hu-HU" dirty="0"/>
              <a:t> táblát, amely két idegen kulcsot tartalmaz: </a:t>
            </a:r>
            <a:r>
              <a:rPr lang="hu-HU" dirty="0" err="1"/>
              <a:t>KerdesId</a:t>
            </a:r>
            <a:r>
              <a:rPr lang="hu-HU" dirty="0"/>
              <a:t> és </a:t>
            </a:r>
            <a:r>
              <a:rPr lang="hu-HU" dirty="0" err="1"/>
              <a:t>CimkeId</a:t>
            </a:r>
            <a:r>
              <a:rPr lang="hu-HU" dirty="0"/>
              <a:t>.</a:t>
            </a:r>
          </a:p>
          <a:p>
            <a:endParaRPr lang="hu-HU" dirty="0"/>
          </a:p>
        </p:txBody>
      </p:sp>
      <p:sp>
        <p:nvSpPr>
          <p:cNvPr id="4" name="Dia számának helye 3"/>
          <p:cNvSpPr>
            <a:spLocks noGrp="1"/>
          </p:cNvSpPr>
          <p:nvPr>
            <p:ph type="sldNum" sz="quarter" idx="5"/>
          </p:nvPr>
        </p:nvSpPr>
        <p:spPr/>
        <p:txBody>
          <a:bodyPr/>
          <a:lstStyle/>
          <a:p>
            <a:fld id="{DE52EEBA-1233-41A5-B150-5DD102CFDAF5}" type="slidenum">
              <a:rPr lang="hu-HU" smtClean="0"/>
              <a:t>9</a:t>
            </a:fld>
            <a:endParaRPr lang="hu-HU"/>
          </a:p>
        </p:txBody>
      </p:sp>
    </p:spTree>
    <p:extLst>
      <p:ext uri="{BB962C8B-B14F-4D97-AF65-F5344CB8AC3E}">
        <p14:creationId xmlns:p14="http://schemas.microsoft.com/office/powerpoint/2010/main" val="3299918713"/>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Diakép helye 1"/>
          <p:cNvSpPr>
            <a:spLocks noGrp="1" noRot="1" noChangeAspect="1"/>
          </p:cNvSpPr>
          <p:nvPr>
            <p:ph type="sldImg"/>
          </p:nvPr>
        </p:nvSpPr>
        <p:spPr/>
      </p:sp>
      <p:sp>
        <p:nvSpPr>
          <p:cNvPr id="3" name="Jegyzetek helye 2"/>
          <p:cNvSpPr>
            <a:spLocks noGrp="1"/>
          </p:cNvSpPr>
          <p:nvPr>
            <p:ph type="body" idx="1"/>
          </p:nvPr>
        </p:nvSpPr>
        <p:spPr/>
        <p:txBody>
          <a:bodyPr/>
          <a:lstStyle/>
          <a:p>
            <a:r>
              <a:rPr lang="hu-HU" dirty="0"/>
              <a:t>A kérdés létrehozásakor a felhasználó vesszővel elválasztva adja meg a címkéket.</a:t>
            </a:r>
          </a:p>
          <a:p>
            <a:r>
              <a:rPr lang="hu-HU" dirty="0"/>
              <a:t>Ezeket először feldaraboljuk, kisbetűssé alakítjuk, majd kiszűrjük a </a:t>
            </a:r>
            <a:r>
              <a:rPr lang="hu-HU" dirty="0" err="1"/>
              <a:t>duplikációkat</a:t>
            </a:r>
            <a:r>
              <a:rPr lang="hu-HU" dirty="0"/>
              <a:t>.</a:t>
            </a:r>
          </a:p>
        </p:txBody>
      </p:sp>
      <p:sp>
        <p:nvSpPr>
          <p:cNvPr id="4" name="Dia számának helye 3"/>
          <p:cNvSpPr>
            <a:spLocks noGrp="1"/>
          </p:cNvSpPr>
          <p:nvPr>
            <p:ph type="sldNum" sz="quarter" idx="5"/>
          </p:nvPr>
        </p:nvSpPr>
        <p:spPr/>
        <p:txBody>
          <a:bodyPr/>
          <a:lstStyle/>
          <a:p>
            <a:fld id="{DE52EEBA-1233-41A5-B150-5DD102CFDAF5}" type="slidenum">
              <a:rPr lang="hu-HU" smtClean="0"/>
              <a:t>10</a:t>
            </a:fld>
            <a:endParaRPr lang="hu-HU"/>
          </a:p>
        </p:txBody>
      </p:sp>
    </p:spTree>
    <p:extLst>
      <p:ext uri="{BB962C8B-B14F-4D97-AF65-F5344CB8AC3E}">
        <p14:creationId xmlns:p14="http://schemas.microsoft.com/office/powerpoint/2010/main" val="1431725190"/>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Diakép helye 1"/>
          <p:cNvSpPr>
            <a:spLocks noGrp="1" noRot="1" noChangeAspect="1"/>
          </p:cNvSpPr>
          <p:nvPr>
            <p:ph type="sldImg"/>
          </p:nvPr>
        </p:nvSpPr>
        <p:spPr/>
      </p:sp>
      <p:sp>
        <p:nvSpPr>
          <p:cNvPr id="3" name="Jegyzetek helye 2"/>
          <p:cNvSpPr>
            <a:spLocks noGrp="1"/>
          </p:cNvSpPr>
          <p:nvPr>
            <p:ph type="body" idx="1"/>
          </p:nvPr>
        </p:nvSpPr>
        <p:spPr/>
        <p:txBody>
          <a:bodyPr/>
          <a:lstStyle/>
          <a:p>
            <a:r>
              <a:rPr lang="hu-HU" dirty="0"/>
              <a:t>Ezután minden címkén </a:t>
            </a:r>
            <a:r>
              <a:rPr lang="hu-HU" dirty="0" err="1"/>
              <a:t>végigiterálunk</a:t>
            </a:r>
            <a:r>
              <a:rPr lang="hu-HU" dirty="0"/>
              <a:t>.</a:t>
            </a:r>
          </a:p>
          <a:p>
            <a:r>
              <a:rPr lang="hu-HU" dirty="0"/>
              <a:t>Először megnézzük, hogy létezik-e már ilyen címke a </a:t>
            </a:r>
            <a:r>
              <a:rPr lang="hu-HU" dirty="0" err="1"/>
              <a:t>Cimkek</a:t>
            </a:r>
            <a:r>
              <a:rPr lang="hu-HU" dirty="0"/>
              <a:t> táblában.</a:t>
            </a:r>
          </a:p>
          <a:p>
            <a:r>
              <a:rPr lang="hu-HU" dirty="0"/>
              <a:t>Ha nem létezik, akkor új rekordot hozunk létre.</a:t>
            </a:r>
          </a:p>
          <a:p>
            <a:r>
              <a:rPr lang="hu-HU" dirty="0"/>
              <a:t>Ez azért fontos, mert ugyanazt a címkét nem akarjuk többször eltárolni az adatbázisban.</a:t>
            </a:r>
          </a:p>
          <a:p>
            <a:r>
              <a:rPr lang="hu-HU" dirty="0"/>
              <a:t>Ha a címke már létezik, akkor azt használjuk újra.</a:t>
            </a:r>
          </a:p>
          <a:p>
            <a:r>
              <a:rPr lang="hu-HU" dirty="0"/>
              <a:t>Ezután a </a:t>
            </a:r>
            <a:r>
              <a:rPr lang="hu-HU" dirty="0" err="1"/>
              <a:t>KerdesCimkek</a:t>
            </a:r>
            <a:r>
              <a:rPr lang="hu-HU" dirty="0"/>
              <a:t> kapcsolótáblába beszúrunk egy új rekordot, amely összekapcsolja az aktuális kérdést a címkével.</a:t>
            </a:r>
          </a:p>
          <a:p>
            <a:r>
              <a:rPr lang="hu-HU" dirty="0"/>
              <a:t>Így jön létre a kapcsolat a kérdés és a címkék között.</a:t>
            </a:r>
          </a:p>
          <a:p>
            <a:r>
              <a:rPr lang="hu-HU" dirty="0"/>
              <a:t>Ennek előnye, hogy rugalmas marad az adatmodell, mert bármennyi címke rendelhető egy kérdéshez, és ugyanaz a címke több kérdésnél is újra felhasználható.</a:t>
            </a:r>
          </a:p>
          <a:p>
            <a:endParaRPr lang="hu-HU" dirty="0"/>
          </a:p>
        </p:txBody>
      </p:sp>
      <p:sp>
        <p:nvSpPr>
          <p:cNvPr id="4" name="Dia számának helye 3"/>
          <p:cNvSpPr>
            <a:spLocks noGrp="1"/>
          </p:cNvSpPr>
          <p:nvPr>
            <p:ph type="sldNum" sz="quarter" idx="5"/>
          </p:nvPr>
        </p:nvSpPr>
        <p:spPr/>
        <p:txBody>
          <a:bodyPr/>
          <a:lstStyle/>
          <a:p>
            <a:fld id="{DE52EEBA-1233-41A5-B150-5DD102CFDAF5}" type="slidenum">
              <a:rPr lang="hu-HU" smtClean="0"/>
              <a:t>11</a:t>
            </a:fld>
            <a:endParaRPr lang="hu-HU"/>
          </a:p>
        </p:txBody>
      </p:sp>
    </p:spTree>
    <p:extLst>
      <p:ext uri="{BB962C8B-B14F-4D97-AF65-F5344CB8AC3E}">
        <p14:creationId xmlns:p14="http://schemas.microsoft.com/office/powerpoint/2010/main" val="208251257"/>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Diakép helye 1"/>
          <p:cNvSpPr>
            <a:spLocks noGrp="1" noRot="1" noChangeAspect="1"/>
          </p:cNvSpPr>
          <p:nvPr>
            <p:ph type="sldImg"/>
          </p:nvPr>
        </p:nvSpPr>
        <p:spPr/>
      </p:sp>
      <p:sp>
        <p:nvSpPr>
          <p:cNvPr id="3" name="Jegyzetek helye 2"/>
          <p:cNvSpPr>
            <a:spLocks noGrp="1"/>
          </p:cNvSpPr>
          <p:nvPr>
            <p:ph type="body" idx="1"/>
          </p:nvPr>
        </p:nvSpPr>
        <p:spPr/>
        <p:txBody>
          <a:bodyPr/>
          <a:lstStyle/>
          <a:p>
            <a:r>
              <a:rPr lang="en-US" dirty="0"/>
              <a:t>During the project, a functional web application based on the MVC (Model–View–Controller) architecture was successfully developed. This structure ensures a clear separation between data handling, presentation, and control logic. The application uses a relational database to store data in a structured and consistent way, and it includes basic moderation logic to manage and review user-generated content. The system is also capable of handling user interactions, allowing users to register, log in, create content, and search within the application.</a:t>
            </a:r>
          </a:p>
          <a:p>
            <a:r>
              <a:rPr lang="en-US" dirty="0"/>
              <a:t>Special attention was given to keeping the application scalable and maintainable. As part of future improvements, the integration of ASP.NET Identity is recommended to provide more secure and modern user management, along with the introduction of a dedicated service layer to further separate business logic and improve code maintainability.</a:t>
            </a:r>
          </a:p>
          <a:p>
            <a:r>
              <a:rPr lang="en-US" b="1" dirty="0"/>
              <a:t>Results</a:t>
            </a:r>
            <a:br>
              <a:rPr lang="en-US" dirty="0"/>
            </a:br>
            <a:r>
              <a:rPr lang="en-US" dirty="0"/>
              <a:t>• Successful implementation of the MVC structure, resulting in a well-organized and maintainable codebase</a:t>
            </a:r>
            <a:br>
              <a:rPr lang="en-US" dirty="0"/>
            </a:br>
            <a:r>
              <a:rPr lang="en-US" dirty="0"/>
              <a:t>• Implementation of basic user management features (registration and login)</a:t>
            </a:r>
            <a:br>
              <a:rPr lang="en-US" dirty="0"/>
            </a:br>
            <a:r>
              <a:rPr lang="en-US" dirty="0"/>
              <a:t>• Introduction of a moderation system to filter and manage inappropriate content</a:t>
            </a:r>
            <a:br>
              <a:rPr lang="en-US" dirty="0"/>
            </a:br>
            <a:r>
              <a:rPr lang="en-US" dirty="0"/>
              <a:t>• Implementation of a search function that allows efficient navigation among content</a:t>
            </a:r>
          </a:p>
        </p:txBody>
      </p:sp>
      <p:sp>
        <p:nvSpPr>
          <p:cNvPr id="4" name="Dia számának helye 3"/>
          <p:cNvSpPr>
            <a:spLocks noGrp="1"/>
          </p:cNvSpPr>
          <p:nvPr>
            <p:ph type="sldNum" sz="quarter" idx="5"/>
          </p:nvPr>
        </p:nvSpPr>
        <p:spPr/>
        <p:txBody>
          <a:bodyPr/>
          <a:lstStyle/>
          <a:p>
            <a:fld id="{DE52EEBA-1233-41A5-B150-5DD102CFDAF5}" type="slidenum">
              <a:rPr lang="hu-HU" smtClean="0"/>
              <a:t>12</a:t>
            </a:fld>
            <a:endParaRPr lang="hu-HU"/>
          </a:p>
        </p:txBody>
      </p:sp>
    </p:spTree>
    <p:extLst>
      <p:ext uri="{BB962C8B-B14F-4D97-AF65-F5344CB8AC3E}">
        <p14:creationId xmlns:p14="http://schemas.microsoft.com/office/powerpoint/2010/main" val="1431725190"/>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E863619-FE53-19C8-E408-6869DD8A0204}"/>
            </a:ext>
          </a:extLst>
        </p:cNvPr>
        <p:cNvGrpSpPr/>
        <p:nvPr/>
      </p:nvGrpSpPr>
      <p:grpSpPr>
        <a:xfrm>
          <a:off x="0" y="0"/>
          <a:ext cx="0" cy="0"/>
          <a:chOff x="0" y="0"/>
          <a:chExt cx="0" cy="0"/>
        </a:xfrm>
      </p:grpSpPr>
      <p:sp>
        <p:nvSpPr>
          <p:cNvPr id="2" name="Diakép helye 1">
            <a:extLst>
              <a:ext uri="{FF2B5EF4-FFF2-40B4-BE49-F238E27FC236}">
                <a16:creationId xmlns:a16="http://schemas.microsoft.com/office/drawing/2014/main" id="{4AE2E82A-EEF6-79DA-70E7-F052E15C8D58}"/>
              </a:ext>
            </a:extLst>
          </p:cNvPr>
          <p:cNvSpPr>
            <a:spLocks noGrp="1" noRot="1" noChangeAspect="1"/>
          </p:cNvSpPr>
          <p:nvPr>
            <p:ph type="sldImg"/>
          </p:nvPr>
        </p:nvSpPr>
        <p:spPr/>
      </p:sp>
      <p:sp>
        <p:nvSpPr>
          <p:cNvPr id="3" name="Jegyzetek helye 2">
            <a:extLst>
              <a:ext uri="{FF2B5EF4-FFF2-40B4-BE49-F238E27FC236}">
                <a16:creationId xmlns:a16="http://schemas.microsoft.com/office/drawing/2014/main" id="{D7E5225A-8076-A8E6-D4A4-CA6938CFE56A}"/>
              </a:ext>
            </a:extLst>
          </p:cNvPr>
          <p:cNvSpPr>
            <a:spLocks noGrp="1"/>
          </p:cNvSpPr>
          <p:nvPr>
            <p:ph type="body" idx="1"/>
          </p:nvPr>
        </p:nvSpPr>
        <p:spPr/>
        <p:txBody>
          <a:bodyPr/>
          <a:lstStyle/>
          <a:p>
            <a:r>
              <a:rPr lang="en-US" dirty="0"/>
              <a:t>As a possible improvement, the introduction of ASP.NET Identity and a dedicated service layer is recommended. </a:t>
            </a:r>
          </a:p>
          <a:p>
            <a:r>
              <a:rPr lang="en-US" b="1" dirty="0"/>
              <a:t>Future Development Opportunities</a:t>
            </a:r>
            <a:br>
              <a:rPr lang="en-US" dirty="0"/>
            </a:br>
            <a:r>
              <a:rPr lang="en-US" dirty="0"/>
              <a:t>• Introduction of an email confirmation system to verify registrations and enhance security</a:t>
            </a:r>
            <a:br>
              <a:rPr lang="en-US" dirty="0"/>
            </a:br>
            <a:r>
              <a:rPr lang="en-US" dirty="0"/>
              <a:t>• Development of advanced profile management features (data editing, profile picture, user settings)</a:t>
            </a:r>
            <a:br>
              <a:rPr lang="en-US" dirty="0"/>
            </a:br>
            <a:r>
              <a:rPr lang="en-US" dirty="0"/>
              <a:t>• Implementation of image upload functionality to provide a richer user experience</a:t>
            </a:r>
          </a:p>
          <a:p>
            <a:r>
              <a:rPr lang="en-US" dirty="0"/>
              <a:t>Overall, the project provides a solid foundation for further development and effectively demonstrates the core principles of a modern web application.</a:t>
            </a:r>
          </a:p>
          <a:p>
            <a:endParaRPr lang="hu-HU" dirty="0"/>
          </a:p>
        </p:txBody>
      </p:sp>
      <p:sp>
        <p:nvSpPr>
          <p:cNvPr id="4" name="Dia számának helye 3">
            <a:extLst>
              <a:ext uri="{FF2B5EF4-FFF2-40B4-BE49-F238E27FC236}">
                <a16:creationId xmlns:a16="http://schemas.microsoft.com/office/drawing/2014/main" id="{39EAC1A1-AAB3-A93B-8CB3-47BF8980EE40}"/>
              </a:ext>
            </a:extLst>
          </p:cNvPr>
          <p:cNvSpPr>
            <a:spLocks noGrp="1"/>
          </p:cNvSpPr>
          <p:nvPr>
            <p:ph type="sldNum" sz="quarter" idx="5"/>
          </p:nvPr>
        </p:nvSpPr>
        <p:spPr/>
        <p:txBody>
          <a:bodyPr/>
          <a:lstStyle/>
          <a:p>
            <a:fld id="{DE52EEBA-1233-41A5-B150-5DD102CFDAF5}" type="slidenum">
              <a:rPr lang="hu-HU" smtClean="0"/>
              <a:t>13</a:t>
            </a:fld>
            <a:endParaRPr lang="hu-HU"/>
          </a:p>
        </p:txBody>
      </p:sp>
    </p:spTree>
    <p:extLst>
      <p:ext uri="{BB962C8B-B14F-4D97-AF65-F5344CB8AC3E}">
        <p14:creationId xmlns:p14="http://schemas.microsoft.com/office/powerpoint/2010/main" val="11801291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Címdia">
    <p:spTree>
      <p:nvGrpSpPr>
        <p:cNvPr id="1" name=""/>
        <p:cNvGrpSpPr/>
        <p:nvPr/>
      </p:nvGrpSpPr>
      <p:grpSpPr>
        <a:xfrm>
          <a:off x="0" y="0"/>
          <a:ext cx="0" cy="0"/>
          <a:chOff x="0" y="0"/>
          <a:chExt cx="0" cy="0"/>
        </a:xfrm>
      </p:grpSpPr>
      <p:sp>
        <p:nvSpPr>
          <p:cNvPr id="7" name="Rectangle 6"/>
          <p:cNvSpPr/>
          <p:nvPr/>
        </p:nvSpPr>
        <p:spPr>
          <a:xfrm>
            <a:off x="1007533" y="0"/>
            <a:ext cx="7934348" cy="6858000"/>
          </a:xfrm>
          <a:prstGeom prst="rect">
            <a:avLst/>
          </a:prstGeom>
          <a:solidFill>
            <a:schemeClr val="bg2">
              <a:alpha val="92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8" name="Rectangle 7"/>
          <p:cNvSpPr/>
          <p:nvPr/>
        </p:nvSpPr>
        <p:spPr>
          <a:xfrm>
            <a:off x="8941881" y="0"/>
            <a:ext cx="27432" cy="6858000"/>
          </a:xfrm>
          <a:prstGeom prst="rect">
            <a:avLst/>
          </a:pr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ctrTitle"/>
          </p:nvPr>
        </p:nvSpPr>
        <p:spPr>
          <a:xfrm>
            <a:off x="2611808" y="3428998"/>
            <a:ext cx="5518066" cy="2268559"/>
          </a:xfrm>
        </p:spPr>
        <p:txBody>
          <a:bodyPr anchor="t">
            <a:normAutofit/>
          </a:bodyPr>
          <a:lstStyle>
            <a:lvl1pPr algn="r">
              <a:defRPr sz="6000"/>
            </a:lvl1pPr>
          </a:lstStyle>
          <a:p>
            <a:r>
              <a:rPr lang="hu-HU"/>
              <a:t>Mintacím szerkesztése</a:t>
            </a:r>
            <a:endParaRPr lang="en-US" dirty="0"/>
          </a:p>
        </p:txBody>
      </p:sp>
      <p:sp>
        <p:nvSpPr>
          <p:cNvPr id="3" name="Subtitle 2"/>
          <p:cNvSpPr>
            <a:spLocks noGrp="1"/>
          </p:cNvSpPr>
          <p:nvPr>
            <p:ph type="subTitle" idx="1"/>
          </p:nvPr>
        </p:nvSpPr>
        <p:spPr>
          <a:xfrm>
            <a:off x="2772274" y="2268786"/>
            <a:ext cx="5357600" cy="1160213"/>
          </a:xfrm>
        </p:spPr>
        <p:txBody>
          <a:bodyPr tIns="0" anchor="b">
            <a:normAutofit/>
          </a:bodyPr>
          <a:lstStyle>
            <a:lvl1pPr marL="0" indent="0" algn="r">
              <a:buNone/>
              <a:defRPr sz="1800" b="0">
                <a:solidFill>
                  <a:schemeClr val="tx1"/>
                </a:solidFill>
              </a:defRPr>
            </a:lvl1pPr>
            <a:lvl2pPr marL="457200" indent="0" algn="ctr">
              <a:buNone/>
              <a:defRPr sz="18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hu-HU"/>
              <a:t>Kattintson ide az alcím mintájának szerkesztéséhez</a:t>
            </a:r>
            <a:endParaRPr lang="en-US" dirty="0"/>
          </a:p>
        </p:txBody>
      </p:sp>
      <p:sp>
        <p:nvSpPr>
          <p:cNvPr id="4" name="Date Placeholder 3"/>
          <p:cNvSpPr>
            <a:spLocks noGrp="1"/>
          </p:cNvSpPr>
          <p:nvPr>
            <p:ph type="dt" sz="half" idx="10"/>
          </p:nvPr>
        </p:nvSpPr>
        <p:spPr/>
        <p:txBody>
          <a:bodyPr/>
          <a:lstStyle/>
          <a:p>
            <a:fld id="{9AB3A824-1A51-4B26-AD58-A6D8E14F6C04}" type="datetimeFigureOut">
              <a:rPr lang="en-US" dirty="0"/>
              <a:t>4/27/2026</a:t>
            </a:fld>
            <a:endParaRPr lang="en-US" dirty="0"/>
          </a:p>
        </p:txBody>
      </p:sp>
      <p:sp>
        <p:nvSpPr>
          <p:cNvPr id="5" name="Footer Placeholder 4"/>
          <p:cNvSpPr>
            <a:spLocks noGrp="1"/>
          </p:cNvSpPr>
          <p:nvPr>
            <p:ph type="ftr" sz="quarter" idx="11"/>
          </p:nvPr>
        </p:nvSpPr>
        <p:spPr/>
        <p:txBody>
          <a:bodyPr/>
          <a:lstStyle/>
          <a:p>
            <a:r>
              <a:rPr lang="en-US" dirty="0"/>
              <a:t>
              </a:t>
            </a:r>
          </a:p>
        </p:txBody>
      </p:sp>
      <p:sp>
        <p:nvSpPr>
          <p:cNvPr id="6" name="Slide Number Placeholder 5"/>
          <p:cNvSpPr>
            <a:spLocks noGrp="1"/>
          </p:cNvSpPr>
          <p:nvPr>
            <p:ph type="sldNum" sz="quarter" idx="12"/>
          </p:nvPr>
        </p:nvSpPr>
        <p:spPr/>
        <p:txBody>
          <a:bodyPr rIns="45720"/>
          <a:lstStyle/>
          <a:p>
            <a:fld id="{6D22F896-40B5-4ADD-8801-0D06FADFA095}" type="slidenum">
              <a:rPr lang="en-US" dirty="0"/>
              <a:t>‹#›</a:t>
            </a:fld>
            <a:endParaRPr lang="en-US" dirty="0"/>
          </a:p>
        </p:txBody>
      </p:sp>
      <p:sp>
        <p:nvSpPr>
          <p:cNvPr id="13" name="TextBox 12"/>
          <p:cNvSpPr txBox="1"/>
          <p:nvPr/>
        </p:nvSpPr>
        <p:spPr>
          <a:xfrm>
            <a:off x="2191282" y="3262852"/>
            <a:ext cx="415636" cy="461665"/>
          </a:xfrm>
          <a:prstGeom prst="rect">
            <a:avLst/>
          </a:prstGeom>
          <a:noFill/>
        </p:spPr>
        <p:txBody>
          <a:bodyPr wrap="square" rtlCol="0">
            <a:spAutoFit/>
          </a:bodyPr>
          <a:lstStyle/>
          <a:p>
            <a:pPr algn="r"/>
            <a:r>
              <a:rPr lang="en-US" sz="2400" dirty="0">
                <a:solidFill>
                  <a:schemeClr val="accent6"/>
                </a:solidFill>
                <a:latin typeface="Wingdings 3" panose="05040102010807070707" pitchFamily="18" charset="2"/>
              </a:rPr>
              <a:t>z</a:t>
            </a:r>
            <a:endParaRPr lang="en-US" sz="2400" dirty="0">
              <a:solidFill>
                <a:schemeClr val="accent6"/>
              </a:solidFill>
              <a:latin typeface="MS Shell Dlg 2" panose="020B0604030504040204" pitchFamily="34" charset="0"/>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Cím és tartalom">
    <p:spTree>
      <p:nvGrpSpPr>
        <p:cNvPr id="1" name=""/>
        <p:cNvGrpSpPr/>
        <p:nvPr/>
      </p:nvGrpSpPr>
      <p:grpSpPr>
        <a:xfrm>
          <a:off x="0" y="0"/>
          <a:ext cx="0" cy="0"/>
          <a:chOff x="0" y="0"/>
          <a:chExt cx="0" cy="0"/>
        </a:xfrm>
      </p:grpSpPr>
      <p:sp>
        <p:nvSpPr>
          <p:cNvPr id="29" name="Rectangle 28"/>
          <p:cNvSpPr/>
          <p:nvPr/>
        </p:nvSpPr>
        <p:spPr>
          <a:xfrm>
            <a:off x="1004479" y="0"/>
            <a:ext cx="10372316" cy="6858000"/>
          </a:xfrm>
          <a:prstGeom prst="rect">
            <a:avLst/>
          </a:prstGeom>
          <a:solidFill>
            <a:schemeClr val="bg2">
              <a:alpha val="92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9" name="Rectangle 8"/>
          <p:cNvSpPr/>
          <p:nvPr/>
        </p:nvSpPr>
        <p:spPr>
          <a:xfrm>
            <a:off x="11377328" y="0"/>
            <a:ext cx="27432" cy="6858000"/>
          </a:xfrm>
          <a:prstGeom prst="rect">
            <a:avLst/>
          </a:pr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p:txBody>
          <a:bodyPr/>
          <a:lstStyle/>
          <a:p>
            <a:r>
              <a:rPr lang="hu-HU"/>
              <a:t>Mintacím szerkesztése</a:t>
            </a:r>
            <a:endParaRPr lang="en-US" dirty="0"/>
          </a:p>
        </p:txBody>
      </p:sp>
      <p:sp>
        <p:nvSpPr>
          <p:cNvPr id="3" name="Content Placeholder 2"/>
          <p:cNvSpPr>
            <a:spLocks noGrp="1"/>
          </p:cNvSpPr>
          <p:nvPr>
            <p:ph idx="1"/>
          </p:nvPr>
        </p:nvSpPr>
        <p:spPr/>
        <p:txBody>
          <a:bodyPr anchor="ctr"/>
          <a:lstStyle/>
          <a:p>
            <a:pPr lvl="0"/>
            <a:r>
              <a:rPr lang="hu-HU"/>
              <a:t>Mintaszöveg szerkesztése</a:t>
            </a:r>
          </a:p>
          <a:p>
            <a:pPr lvl="1"/>
            <a:r>
              <a:rPr lang="hu-HU"/>
              <a:t>Második szint</a:t>
            </a:r>
          </a:p>
          <a:p>
            <a:pPr lvl="2"/>
            <a:r>
              <a:rPr lang="hu-HU"/>
              <a:t>Harmadik szint</a:t>
            </a:r>
          </a:p>
          <a:p>
            <a:pPr lvl="3"/>
            <a:r>
              <a:rPr lang="hu-HU"/>
              <a:t>Negyedik szint</a:t>
            </a:r>
          </a:p>
          <a:p>
            <a:pPr lvl="4"/>
            <a:r>
              <a:rPr lang="hu-HU"/>
              <a:t>Ötödik szint</a:t>
            </a:r>
            <a:endParaRPr lang="en-US" dirty="0"/>
          </a:p>
        </p:txBody>
      </p:sp>
      <p:sp>
        <p:nvSpPr>
          <p:cNvPr id="4" name="Date Placeholder 3"/>
          <p:cNvSpPr>
            <a:spLocks noGrp="1"/>
          </p:cNvSpPr>
          <p:nvPr>
            <p:ph type="dt" sz="half" idx="10"/>
          </p:nvPr>
        </p:nvSpPr>
        <p:spPr/>
        <p:txBody>
          <a:bodyPr/>
          <a:lstStyle/>
          <a:p>
            <a:fld id="{97D162C4-EDD9-4389-A98B-B87ECEA2A816}" type="datetimeFigureOut">
              <a:rPr lang="en-US" dirty="0"/>
              <a:t>4/27/2026</a:t>
            </a:fld>
            <a:endParaRPr lang="en-US" dirty="0"/>
          </a:p>
        </p:txBody>
      </p:sp>
      <p:sp>
        <p:nvSpPr>
          <p:cNvPr id="5" name="Footer Placeholder 4"/>
          <p:cNvSpPr>
            <a:spLocks noGrp="1"/>
          </p:cNvSpPr>
          <p:nvPr>
            <p:ph type="ftr" sz="quarter" idx="11"/>
          </p:nvPr>
        </p:nvSpPr>
        <p:spPr/>
        <p:txBody>
          <a:bodyPr/>
          <a:lstStyle/>
          <a:p>
            <a:r>
              <a:rPr lang="en-US" dirty="0"/>
              <a:t>
              </a:t>
            </a:r>
          </a:p>
        </p:txBody>
      </p:sp>
      <p:sp>
        <p:nvSpPr>
          <p:cNvPr id="6" name="Slide Number Placeholder 5"/>
          <p:cNvSpPr>
            <a:spLocks noGrp="1"/>
          </p:cNvSpPr>
          <p:nvPr>
            <p:ph type="sldNum" sz="quarter" idx="12"/>
          </p:nvPr>
        </p:nvSpPr>
        <p:spPr/>
        <p:txBody>
          <a:bodyPr/>
          <a:lstStyle/>
          <a:p>
            <a:fld id="{6D22F896-40B5-4ADD-8801-0D06FADFA095}" type="slidenum">
              <a:rPr lang="en-US" dirty="0"/>
              <a:t>‹#›</a:t>
            </a:fld>
            <a:endParaRPr lang="en-US" dirty="0"/>
          </a:p>
        </p:txBody>
      </p:sp>
      <p:sp>
        <p:nvSpPr>
          <p:cNvPr id="7" name="TextBox 6"/>
          <p:cNvSpPr txBox="1"/>
          <p:nvPr/>
        </p:nvSpPr>
        <p:spPr>
          <a:xfrm>
            <a:off x="2194943" y="641225"/>
            <a:ext cx="415636" cy="369332"/>
          </a:xfrm>
          <a:prstGeom prst="rect">
            <a:avLst/>
          </a:prstGeom>
          <a:noFill/>
        </p:spPr>
        <p:txBody>
          <a:bodyPr wrap="square" rtlCol="0">
            <a:spAutoFit/>
          </a:bodyPr>
          <a:lstStyle/>
          <a:p>
            <a:pPr algn="r"/>
            <a:r>
              <a:rPr lang="en-US" sz="1800" dirty="0">
                <a:solidFill>
                  <a:schemeClr val="accent6"/>
                </a:solidFill>
                <a:latin typeface="Wingdings 3" panose="05040102010807070707" pitchFamily="18" charset="2"/>
              </a:rPr>
              <a:t>z</a:t>
            </a:r>
            <a:endParaRPr lang="en-US" sz="1000" dirty="0">
              <a:solidFill>
                <a:schemeClr val="accent6"/>
              </a:solidFill>
              <a:latin typeface="MS Shell Dlg 2" panose="020B0604030504040204" pitchFamily="34" charset="0"/>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zakaszfejléc">
    <p:spTree>
      <p:nvGrpSpPr>
        <p:cNvPr id="1" name=""/>
        <p:cNvGrpSpPr/>
        <p:nvPr/>
      </p:nvGrpSpPr>
      <p:grpSpPr>
        <a:xfrm>
          <a:off x="0" y="0"/>
          <a:ext cx="0" cy="0"/>
          <a:chOff x="0" y="0"/>
          <a:chExt cx="0" cy="0"/>
        </a:xfrm>
      </p:grpSpPr>
      <p:sp>
        <p:nvSpPr>
          <p:cNvPr id="24" name="Rectangle 23"/>
          <p:cNvSpPr/>
          <p:nvPr/>
        </p:nvSpPr>
        <p:spPr>
          <a:xfrm>
            <a:off x="1004479" y="0"/>
            <a:ext cx="10372316" cy="6858000"/>
          </a:xfrm>
          <a:prstGeom prst="rect">
            <a:avLst/>
          </a:prstGeom>
          <a:solidFill>
            <a:schemeClr val="bg2">
              <a:alpha val="92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5" name="Rectangle 24"/>
          <p:cNvSpPr/>
          <p:nvPr/>
        </p:nvSpPr>
        <p:spPr>
          <a:xfrm>
            <a:off x="11377328" y="0"/>
            <a:ext cx="27432" cy="6858000"/>
          </a:xfrm>
          <a:prstGeom prst="rect">
            <a:avLst/>
          </a:pr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11" name="TextBox 10"/>
          <p:cNvSpPr txBox="1"/>
          <p:nvPr/>
        </p:nvSpPr>
        <p:spPr>
          <a:xfrm>
            <a:off x="2191843" y="2962586"/>
            <a:ext cx="415636" cy="369332"/>
          </a:xfrm>
          <a:prstGeom prst="rect">
            <a:avLst/>
          </a:prstGeom>
          <a:noFill/>
        </p:spPr>
        <p:txBody>
          <a:bodyPr wrap="square" rtlCol="0">
            <a:spAutoFit/>
          </a:bodyPr>
          <a:lstStyle/>
          <a:p>
            <a:pPr algn="r"/>
            <a:r>
              <a:rPr lang="en-US" sz="1800" dirty="0">
                <a:solidFill>
                  <a:schemeClr val="accent6"/>
                </a:solidFill>
                <a:latin typeface="Wingdings 3" panose="05040102010807070707" pitchFamily="18" charset="2"/>
              </a:rPr>
              <a:t>z</a:t>
            </a:r>
            <a:endParaRPr lang="en-US" sz="1000" dirty="0">
              <a:solidFill>
                <a:schemeClr val="accent6"/>
              </a:solidFill>
              <a:latin typeface="MS Shell Dlg 2" panose="020B0604030504040204" pitchFamily="34" charset="0"/>
            </a:endParaRPr>
          </a:p>
        </p:txBody>
      </p:sp>
      <p:sp>
        <p:nvSpPr>
          <p:cNvPr id="2" name="Title 1"/>
          <p:cNvSpPr>
            <a:spLocks noGrp="1"/>
          </p:cNvSpPr>
          <p:nvPr>
            <p:ph type="title"/>
          </p:nvPr>
        </p:nvSpPr>
        <p:spPr>
          <a:xfrm>
            <a:off x="2609873" y="3147254"/>
            <a:ext cx="7956560" cy="1424746"/>
          </a:xfrm>
        </p:spPr>
        <p:txBody>
          <a:bodyPr anchor="t">
            <a:normAutofit/>
          </a:bodyPr>
          <a:lstStyle>
            <a:lvl1pPr algn="r">
              <a:defRPr sz="3200"/>
            </a:lvl1pPr>
          </a:lstStyle>
          <a:p>
            <a:r>
              <a:rPr lang="hu-HU"/>
              <a:t>Mintacím szerkesztése</a:t>
            </a:r>
            <a:endParaRPr lang="en-US" dirty="0"/>
          </a:p>
        </p:txBody>
      </p:sp>
      <p:sp>
        <p:nvSpPr>
          <p:cNvPr id="3" name="Text Placeholder 2"/>
          <p:cNvSpPr>
            <a:spLocks noGrp="1"/>
          </p:cNvSpPr>
          <p:nvPr>
            <p:ph type="body" idx="1"/>
          </p:nvPr>
        </p:nvSpPr>
        <p:spPr>
          <a:xfrm>
            <a:off x="2773968" y="2268786"/>
            <a:ext cx="7791931" cy="878468"/>
          </a:xfrm>
        </p:spPr>
        <p:txBody>
          <a:bodyPr tIns="0" anchor="b">
            <a:normAutofit/>
          </a:bodyPr>
          <a:lstStyle>
            <a:lvl1pPr marL="0" indent="0" algn="r">
              <a:buNone/>
              <a:defRPr sz="1800">
                <a:solidFill>
                  <a:schemeClr val="tx1"/>
                </a:solidFill>
              </a:defRPr>
            </a:lvl1pPr>
            <a:lvl2pPr marL="457200" indent="0">
              <a:buNone/>
              <a:defRPr sz="18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hu-HU"/>
              <a:t>Mintaszöveg szerkesztése</a:t>
            </a:r>
          </a:p>
        </p:txBody>
      </p:sp>
      <p:sp>
        <p:nvSpPr>
          <p:cNvPr id="4" name="Date Placeholder 3"/>
          <p:cNvSpPr>
            <a:spLocks noGrp="1"/>
          </p:cNvSpPr>
          <p:nvPr>
            <p:ph type="dt" sz="half" idx="10"/>
          </p:nvPr>
        </p:nvSpPr>
        <p:spPr/>
        <p:txBody>
          <a:bodyPr/>
          <a:lstStyle/>
          <a:p>
            <a:fld id="{3E5059C3-6A89-4494-99FF-5A4D6FFD50EB}" type="datetimeFigureOut">
              <a:rPr lang="en-US" dirty="0"/>
              <a:t>4/27/2026</a:t>
            </a:fld>
            <a:endParaRPr lang="en-US" dirty="0"/>
          </a:p>
        </p:txBody>
      </p:sp>
      <p:sp>
        <p:nvSpPr>
          <p:cNvPr id="5" name="Footer Placeholder 4"/>
          <p:cNvSpPr>
            <a:spLocks noGrp="1"/>
          </p:cNvSpPr>
          <p:nvPr>
            <p:ph type="ftr" sz="quarter" idx="11"/>
          </p:nvPr>
        </p:nvSpPr>
        <p:spPr/>
        <p:txBody>
          <a:bodyPr/>
          <a:lstStyle/>
          <a:p>
            <a:r>
              <a:rPr lang="en-US" dirty="0"/>
              <a:t>
              </a:t>
            </a:r>
          </a:p>
        </p:txBody>
      </p:sp>
      <p:sp>
        <p:nvSpPr>
          <p:cNvPr id="6" name="Slide Number Placeholder 5"/>
          <p:cNvSpPr>
            <a:spLocks noGrp="1"/>
          </p:cNvSpPr>
          <p:nvPr>
            <p:ph type="sldNum" sz="quarter" idx="12"/>
          </p:nvPr>
        </p:nvSpPr>
        <p:spPr/>
        <p:txBody>
          <a:bodyPr/>
          <a:lstStyle/>
          <a:p>
            <a:fld id="{6D22F896-40B5-4ADD-8801-0D06FADFA095}" type="slidenum">
              <a:rPr lang="en-US" dirty="0"/>
              <a:t>‹#›</a:t>
            </a:fld>
            <a:endParaRPr lang="en-US" dirty="0"/>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2 tartalomrész">
    <p:spTree>
      <p:nvGrpSpPr>
        <p:cNvPr id="1" name=""/>
        <p:cNvGrpSpPr/>
        <p:nvPr/>
      </p:nvGrpSpPr>
      <p:grpSpPr>
        <a:xfrm>
          <a:off x="0" y="0"/>
          <a:ext cx="0" cy="0"/>
          <a:chOff x="0" y="0"/>
          <a:chExt cx="0" cy="0"/>
        </a:xfrm>
      </p:grpSpPr>
      <p:sp>
        <p:nvSpPr>
          <p:cNvPr id="26" name="Rectangle 25"/>
          <p:cNvSpPr/>
          <p:nvPr/>
        </p:nvSpPr>
        <p:spPr>
          <a:xfrm>
            <a:off x="1004479" y="0"/>
            <a:ext cx="10372316" cy="6858000"/>
          </a:xfrm>
          <a:prstGeom prst="rect">
            <a:avLst/>
          </a:prstGeom>
          <a:solidFill>
            <a:schemeClr val="bg2">
              <a:alpha val="92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7" name="Rectangle 26"/>
          <p:cNvSpPr/>
          <p:nvPr/>
        </p:nvSpPr>
        <p:spPr>
          <a:xfrm>
            <a:off x="11377328" y="0"/>
            <a:ext cx="27432" cy="6858000"/>
          </a:xfrm>
          <a:prstGeom prst="rect">
            <a:avLst/>
          </a:pr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2609873" y="805817"/>
            <a:ext cx="7950984" cy="1081705"/>
          </a:xfrm>
        </p:spPr>
        <p:txBody>
          <a:bodyPr/>
          <a:lstStyle/>
          <a:p>
            <a:r>
              <a:rPr lang="hu-HU"/>
              <a:t>Mintacím szerkesztése</a:t>
            </a:r>
            <a:endParaRPr lang="en-US" dirty="0"/>
          </a:p>
        </p:txBody>
      </p:sp>
      <p:sp>
        <p:nvSpPr>
          <p:cNvPr id="3" name="Content Placeholder 2"/>
          <p:cNvSpPr>
            <a:spLocks noGrp="1"/>
          </p:cNvSpPr>
          <p:nvPr>
            <p:ph sz="half" idx="1"/>
          </p:nvPr>
        </p:nvSpPr>
        <p:spPr>
          <a:xfrm>
            <a:off x="2605374" y="2052116"/>
            <a:ext cx="3891960" cy="3997828"/>
          </a:xfrm>
        </p:spPr>
        <p:txBody>
          <a:bodyPr/>
          <a:lstStyle/>
          <a:p>
            <a:pPr lvl="0"/>
            <a:r>
              <a:rPr lang="hu-HU"/>
              <a:t>Mintaszöveg szerkesztése</a:t>
            </a:r>
          </a:p>
          <a:p>
            <a:pPr lvl="1"/>
            <a:r>
              <a:rPr lang="hu-HU"/>
              <a:t>Második szint</a:t>
            </a:r>
          </a:p>
          <a:p>
            <a:pPr lvl="2"/>
            <a:r>
              <a:rPr lang="hu-HU"/>
              <a:t>Harmadik szint</a:t>
            </a:r>
          </a:p>
          <a:p>
            <a:pPr lvl="3"/>
            <a:r>
              <a:rPr lang="hu-HU"/>
              <a:t>Negyedik szint</a:t>
            </a:r>
          </a:p>
          <a:p>
            <a:pPr lvl="4"/>
            <a:r>
              <a:rPr lang="hu-HU"/>
              <a:t>Ötödik szint</a:t>
            </a:r>
            <a:endParaRPr lang="en-US" dirty="0"/>
          </a:p>
        </p:txBody>
      </p:sp>
      <p:sp>
        <p:nvSpPr>
          <p:cNvPr id="4" name="Content Placeholder 3"/>
          <p:cNvSpPr>
            <a:spLocks noGrp="1"/>
          </p:cNvSpPr>
          <p:nvPr>
            <p:ph sz="half" idx="2"/>
          </p:nvPr>
        </p:nvSpPr>
        <p:spPr>
          <a:xfrm>
            <a:off x="6666636" y="2052114"/>
            <a:ext cx="3894222" cy="3997829"/>
          </a:xfrm>
        </p:spPr>
        <p:txBody>
          <a:bodyPr/>
          <a:lstStyle/>
          <a:p>
            <a:pPr lvl="0"/>
            <a:r>
              <a:rPr lang="hu-HU"/>
              <a:t>Mintaszöveg szerkesztése</a:t>
            </a:r>
          </a:p>
          <a:p>
            <a:pPr lvl="1"/>
            <a:r>
              <a:rPr lang="hu-HU"/>
              <a:t>Második szint</a:t>
            </a:r>
          </a:p>
          <a:p>
            <a:pPr lvl="2"/>
            <a:r>
              <a:rPr lang="hu-HU"/>
              <a:t>Harmadik szint</a:t>
            </a:r>
          </a:p>
          <a:p>
            <a:pPr lvl="3"/>
            <a:r>
              <a:rPr lang="hu-HU"/>
              <a:t>Negyedik szint</a:t>
            </a:r>
          </a:p>
          <a:p>
            <a:pPr lvl="4"/>
            <a:r>
              <a:rPr lang="hu-HU"/>
              <a:t>Ötödik szint</a:t>
            </a:r>
            <a:endParaRPr lang="en-US" dirty="0"/>
          </a:p>
        </p:txBody>
      </p:sp>
      <p:sp>
        <p:nvSpPr>
          <p:cNvPr id="5" name="Date Placeholder 4"/>
          <p:cNvSpPr>
            <a:spLocks noGrp="1"/>
          </p:cNvSpPr>
          <p:nvPr>
            <p:ph type="dt" sz="half" idx="10"/>
          </p:nvPr>
        </p:nvSpPr>
        <p:spPr/>
        <p:txBody>
          <a:bodyPr/>
          <a:lstStyle/>
          <a:p>
            <a:fld id="{CA954B2F-12DE-47F5-8894-472B206D2E1E}" type="datetimeFigureOut">
              <a:rPr lang="en-US" dirty="0"/>
              <a:t>4/27/2026</a:t>
            </a:fld>
            <a:endParaRPr lang="en-US" dirty="0"/>
          </a:p>
        </p:txBody>
      </p:sp>
      <p:sp>
        <p:nvSpPr>
          <p:cNvPr id="6" name="Footer Placeholder 5"/>
          <p:cNvSpPr>
            <a:spLocks noGrp="1"/>
          </p:cNvSpPr>
          <p:nvPr>
            <p:ph type="ftr" sz="quarter" idx="11"/>
          </p:nvPr>
        </p:nvSpPr>
        <p:spPr/>
        <p:txBody>
          <a:bodyPr/>
          <a:lstStyle/>
          <a:p>
            <a:r>
              <a:rPr lang="en-US" dirty="0"/>
              <a:t>
              </a:t>
            </a:r>
          </a:p>
        </p:txBody>
      </p:sp>
      <p:sp>
        <p:nvSpPr>
          <p:cNvPr id="7" name="Slide Number Placeholder 6"/>
          <p:cNvSpPr>
            <a:spLocks noGrp="1"/>
          </p:cNvSpPr>
          <p:nvPr>
            <p:ph type="sldNum" sz="quarter" idx="12"/>
          </p:nvPr>
        </p:nvSpPr>
        <p:spPr/>
        <p:txBody>
          <a:bodyPr/>
          <a:lstStyle/>
          <a:p>
            <a:fld id="{6D22F896-40B5-4ADD-8801-0D06FADFA095}" type="slidenum">
              <a:rPr lang="en-US" dirty="0"/>
              <a:t>‹#›</a:t>
            </a:fld>
            <a:endParaRPr lang="en-US" dirty="0"/>
          </a:p>
        </p:txBody>
      </p:sp>
      <p:sp>
        <p:nvSpPr>
          <p:cNvPr id="10" name="TextBox 9"/>
          <p:cNvSpPr txBox="1"/>
          <p:nvPr/>
        </p:nvSpPr>
        <p:spPr>
          <a:xfrm>
            <a:off x="2196172" y="641223"/>
            <a:ext cx="415636" cy="369332"/>
          </a:xfrm>
          <a:prstGeom prst="rect">
            <a:avLst/>
          </a:prstGeom>
          <a:noFill/>
        </p:spPr>
        <p:txBody>
          <a:bodyPr wrap="square" rtlCol="0">
            <a:spAutoFit/>
          </a:bodyPr>
          <a:lstStyle/>
          <a:p>
            <a:pPr algn="r"/>
            <a:r>
              <a:rPr lang="en-US" sz="1800" dirty="0">
                <a:solidFill>
                  <a:schemeClr val="accent6"/>
                </a:solidFill>
                <a:latin typeface="Wingdings 3" panose="05040102010807070707" pitchFamily="18" charset="2"/>
              </a:rPr>
              <a:t>z</a:t>
            </a:r>
            <a:endParaRPr lang="en-US" sz="1000" dirty="0">
              <a:solidFill>
                <a:schemeClr val="accent6"/>
              </a:solidFill>
              <a:latin typeface="MS Shell Dlg 2" panose="020B0604030504040204" pitchFamily="34" charset="0"/>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Összehasonlítás">
    <p:spTree>
      <p:nvGrpSpPr>
        <p:cNvPr id="1" name=""/>
        <p:cNvGrpSpPr/>
        <p:nvPr/>
      </p:nvGrpSpPr>
      <p:grpSpPr>
        <a:xfrm>
          <a:off x="0" y="0"/>
          <a:ext cx="0" cy="0"/>
          <a:chOff x="0" y="0"/>
          <a:chExt cx="0" cy="0"/>
        </a:xfrm>
      </p:grpSpPr>
      <p:sp>
        <p:nvSpPr>
          <p:cNvPr id="20" name="Rectangle 19"/>
          <p:cNvSpPr/>
          <p:nvPr/>
        </p:nvSpPr>
        <p:spPr>
          <a:xfrm>
            <a:off x="1004479" y="0"/>
            <a:ext cx="10372316" cy="6858000"/>
          </a:xfrm>
          <a:prstGeom prst="rect">
            <a:avLst/>
          </a:prstGeom>
          <a:solidFill>
            <a:schemeClr val="bg2">
              <a:alpha val="92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1" name="Rectangle 20"/>
          <p:cNvSpPr/>
          <p:nvPr/>
        </p:nvSpPr>
        <p:spPr>
          <a:xfrm>
            <a:off x="11377328" y="0"/>
            <a:ext cx="27432" cy="6858000"/>
          </a:xfrm>
          <a:prstGeom prst="rect">
            <a:avLst/>
          </a:pr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12" name="TextBox 11"/>
          <p:cNvSpPr txBox="1"/>
          <p:nvPr/>
        </p:nvSpPr>
        <p:spPr>
          <a:xfrm>
            <a:off x="2193650" y="636424"/>
            <a:ext cx="415636" cy="369332"/>
          </a:xfrm>
          <a:prstGeom prst="rect">
            <a:avLst/>
          </a:prstGeom>
          <a:noFill/>
        </p:spPr>
        <p:txBody>
          <a:bodyPr wrap="square" rtlCol="0">
            <a:spAutoFit/>
          </a:bodyPr>
          <a:lstStyle/>
          <a:p>
            <a:pPr algn="r"/>
            <a:r>
              <a:rPr lang="en-US" sz="1800" dirty="0">
                <a:solidFill>
                  <a:schemeClr val="accent6"/>
                </a:solidFill>
                <a:latin typeface="Wingdings 3" panose="05040102010807070707" pitchFamily="18" charset="2"/>
              </a:rPr>
              <a:t>z</a:t>
            </a:r>
            <a:endParaRPr lang="en-US" sz="1000" dirty="0">
              <a:solidFill>
                <a:schemeClr val="accent6"/>
              </a:solidFill>
              <a:latin typeface="MS Shell Dlg 2" panose="020B0604030504040204" pitchFamily="34" charset="0"/>
            </a:endParaRPr>
          </a:p>
        </p:txBody>
      </p:sp>
      <p:sp>
        <p:nvSpPr>
          <p:cNvPr id="2" name="Title 1"/>
          <p:cNvSpPr>
            <a:spLocks noGrp="1"/>
          </p:cNvSpPr>
          <p:nvPr>
            <p:ph type="title"/>
          </p:nvPr>
        </p:nvSpPr>
        <p:spPr>
          <a:xfrm>
            <a:off x="2609873" y="805818"/>
            <a:ext cx="7956560" cy="1078348"/>
          </a:xfrm>
        </p:spPr>
        <p:txBody>
          <a:bodyPr/>
          <a:lstStyle/>
          <a:p>
            <a:r>
              <a:rPr lang="hu-HU"/>
              <a:t>Mintacím szerkesztése</a:t>
            </a:r>
            <a:endParaRPr lang="en-US" dirty="0"/>
          </a:p>
        </p:txBody>
      </p:sp>
      <p:sp>
        <p:nvSpPr>
          <p:cNvPr id="3" name="Text Placeholder 2"/>
          <p:cNvSpPr>
            <a:spLocks noGrp="1"/>
          </p:cNvSpPr>
          <p:nvPr>
            <p:ph type="body" idx="1"/>
          </p:nvPr>
        </p:nvSpPr>
        <p:spPr>
          <a:xfrm>
            <a:off x="2609285" y="2052115"/>
            <a:ext cx="3896467" cy="713818"/>
          </a:xfrm>
        </p:spPr>
        <p:txBody>
          <a:bodyPr anchor="b">
            <a:noAutofit/>
          </a:bodyPr>
          <a:lstStyle>
            <a:lvl1pPr marL="0" indent="0" algn="l">
              <a:lnSpc>
                <a:spcPct val="100000"/>
              </a:lnSpc>
              <a:buNone/>
              <a:defRPr sz="2200" b="0" cap="none" baseline="0">
                <a:solidFill>
                  <a:schemeClr val="accent6"/>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hu-HU"/>
              <a:t>Mintaszöveg szerkesztése</a:t>
            </a:r>
          </a:p>
        </p:txBody>
      </p:sp>
      <p:sp>
        <p:nvSpPr>
          <p:cNvPr id="4" name="Content Placeholder 3"/>
          <p:cNvSpPr>
            <a:spLocks noGrp="1"/>
          </p:cNvSpPr>
          <p:nvPr>
            <p:ph sz="half" idx="2"/>
          </p:nvPr>
        </p:nvSpPr>
        <p:spPr>
          <a:xfrm>
            <a:off x="2609285" y="2851331"/>
            <a:ext cx="3893623" cy="3071434"/>
          </a:xfrm>
        </p:spPr>
        <p:txBody>
          <a:bodyPr/>
          <a:lstStyle/>
          <a:p>
            <a:pPr lvl="0"/>
            <a:r>
              <a:rPr lang="hu-HU"/>
              <a:t>Mintaszöveg szerkesztése</a:t>
            </a:r>
          </a:p>
          <a:p>
            <a:pPr lvl="1"/>
            <a:r>
              <a:rPr lang="hu-HU"/>
              <a:t>Második szint</a:t>
            </a:r>
          </a:p>
          <a:p>
            <a:pPr lvl="2"/>
            <a:r>
              <a:rPr lang="hu-HU"/>
              <a:t>Harmadik szint</a:t>
            </a:r>
          </a:p>
          <a:p>
            <a:pPr lvl="3"/>
            <a:r>
              <a:rPr lang="hu-HU"/>
              <a:t>Negyedik szint</a:t>
            </a:r>
          </a:p>
          <a:p>
            <a:pPr lvl="4"/>
            <a:r>
              <a:rPr lang="hu-HU"/>
              <a:t>Ötödik szint</a:t>
            </a:r>
            <a:endParaRPr lang="en-US" dirty="0"/>
          </a:p>
        </p:txBody>
      </p:sp>
      <p:sp>
        <p:nvSpPr>
          <p:cNvPr id="5" name="Text Placeholder 4"/>
          <p:cNvSpPr>
            <a:spLocks noGrp="1"/>
          </p:cNvSpPr>
          <p:nvPr>
            <p:ph type="body" sz="quarter" idx="3"/>
          </p:nvPr>
        </p:nvSpPr>
        <p:spPr>
          <a:xfrm>
            <a:off x="6666634" y="2052115"/>
            <a:ext cx="3899798" cy="713818"/>
          </a:xfrm>
        </p:spPr>
        <p:txBody>
          <a:bodyPr anchor="b">
            <a:noAutofit/>
          </a:bodyPr>
          <a:lstStyle>
            <a:lvl1pPr marL="0" indent="0" algn="l">
              <a:lnSpc>
                <a:spcPct val="100000"/>
              </a:lnSpc>
              <a:buNone/>
              <a:defRPr sz="2200" b="0" cap="none" baseline="0">
                <a:solidFill>
                  <a:schemeClr val="accent6"/>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hu-HU"/>
              <a:t>Mintaszöveg szerkesztése</a:t>
            </a:r>
          </a:p>
        </p:txBody>
      </p:sp>
      <p:sp>
        <p:nvSpPr>
          <p:cNvPr id="6" name="Content Placeholder 5"/>
          <p:cNvSpPr>
            <a:spLocks noGrp="1"/>
          </p:cNvSpPr>
          <p:nvPr>
            <p:ph sz="quarter" idx="4"/>
          </p:nvPr>
        </p:nvSpPr>
        <p:spPr>
          <a:xfrm>
            <a:off x="6666635" y="2851331"/>
            <a:ext cx="3899798" cy="3071434"/>
          </a:xfrm>
        </p:spPr>
        <p:txBody>
          <a:bodyPr/>
          <a:lstStyle/>
          <a:p>
            <a:pPr lvl="0"/>
            <a:r>
              <a:rPr lang="hu-HU"/>
              <a:t>Mintaszöveg szerkesztése</a:t>
            </a:r>
          </a:p>
          <a:p>
            <a:pPr lvl="1"/>
            <a:r>
              <a:rPr lang="hu-HU"/>
              <a:t>Második szint</a:t>
            </a:r>
          </a:p>
          <a:p>
            <a:pPr lvl="2"/>
            <a:r>
              <a:rPr lang="hu-HU"/>
              <a:t>Harmadik szint</a:t>
            </a:r>
          </a:p>
          <a:p>
            <a:pPr lvl="3"/>
            <a:r>
              <a:rPr lang="hu-HU"/>
              <a:t>Negyedik szint</a:t>
            </a:r>
          </a:p>
          <a:p>
            <a:pPr lvl="4"/>
            <a:r>
              <a:rPr lang="hu-HU"/>
              <a:t>Ötödik szint</a:t>
            </a:r>
            <a:endParaRPr lang="en-US" dirty="0"/>
          </a:p>
        </p:txBody>
      </p:sp>
      <p:sp>
        <p:nvSpPr>
          <p:cNvPr id="7" name="Date Placeholder 6"/>
          <p:cNvSpPr>
            <a:spLocks noGrp="1"/>
          </p:cNvSpPr>
          <p:nvPr>
            <p:ph type="dt" sz="half" idx="10"/>
          </p:nvPr>
        </p:nvSpPr>
        <p:spPr/>
        <p:txBody>
          <a:bodyPr/>
          <a:lstStyle/>
          <a:p>
            <a:fld id="{3F30E46F-7819-4ACF-B48B-48222C2ACC88}" type="datetimeFigureOut">
              <a:rPr lang="en-US" dirty="0"/>
              <a:t>4/27/2026</a:t>
            </a:fld>
            <a:endParaRPr lang="en-US" dirty="0"/>
          </a:p>
        </p:txBody>
      </p:sp>
      <p:sp>
        <p:nvSpPr>
          <p:cNvPr id="8" name="Footer Placeholder 7"/>
          <p:cNvSpPr>
            <a:spLocks noGrp="1"/>
          </p:cNvSpPr>
          <p:nvPr>
            <p:ph type="ftr" sz="quarter" idx="11"/>
          </p:nvPr>
        </p:nvSpPr>
        <p:spPr/>
        <p:txBody>
          <a:bodyPr/>
          <a:lstStyle/>
          <a:p>
            <a:r>
              <a:rPr lang="en-US" dirty="0"/>
              <a:t>
              </a:t>
            </a:r>
          </a:p>
        </p:txBody>
      </p:sp>
      <p:sp>
        <p:nvSpPr>
          <p:cNvPr id="9" name="Slide Number Placeholder 8"/>
          <p:cNvSpPr>
            <a:spLocks noGrp="1"/>
          </p:cNvSpPr>
          <p:nvPr>
            <p:ph type="sldNum" sz="quarter" idx="12"/>
          </p:nvPr>
        </p:nvSpPr>
        <p:spPr/>
        <p:txBody>
          <a:bodyPr/>
          <a:lstStyle/>
          <a:p>
            <a:fld id="{6D22F896-40B5-4ADD-8801-0D06FADFA095}" type="slidenum">
              <a:rPr lang="en-US" dirty="0"/>
              <a:t>‹#›</a:t>
            </a:fld>
            <a:endParaRPr lang="en-US" dirty="0"/>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Csak cím">
    <p:spTree>
      <p:nvGrpSpPr>
        <p:cNvPr id="1" name=""/>
        <p:cNvGrpSpPr/>
        <p:nvPr/>
      </p:nvGrpSpPr>
      <p:grpSpPr>
        <a:xfrm>
          <a:off x="0" y="0"/>
          <a:ext cx="0" cy="0"/>
          <a:chOff x="0" y="0"/>
          <a:chExt cx="0" cy="0"/>
        </a:xfrm>
      </p:grpSpPr>
      <p:sp>
        <p:nvSpPr>
          <p:cNvPr id="13" name="Rectangle 12"/>
          <p:cNvSpPr/>
          <p:nvPr/>
        </p:nvSpPr>
        <p:spPr>
          <a:xfrm>
            <a:off x="1004479" y="0"/>
            <a:ext cx="10372316" cy="6858000"/>
          </a:xfrm>
          <a:prstGeom prst="rect">
            <a:avLst/>
          </a:prstGeom>
          <a:solidFill>
            <a:schemeClr val="bg2">
              <a:alpha val="92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14" name="Rectangle 13"/>
          <p:cNvSpPr/>
          <p:nvPr/>
        </p:nvSpPr>
        <p:spPr>
          <a:xfrm>
            <a:off x="11377328" y="0"/>
            <a:ext cx="27432" cy="6858000"/>
          </a:xfrm>
          <a:prstGeom prst="rect">
            <a:avLst/>
          </a:pr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p:txBody>
          <a:bodyPr/>
          <a:lstStyle/>
          <a:p>
            <a:r>
              <a:rPr lang="hu-HU"/>
              <a:t>Mintacím szerkesztése</a:t>
            </a:r>
            <a:endParaRPr lang="en-US" dirty="0"/>
          </a:p>
        </p:txBody>
      </p:sp>
      <p:sp>
        <p:nvSpPr>
          <p:cNvPr id="3" name="Date Placeholder 2"/>
          <p:cNvSpPr>
            <a:spLocks noGrp="1"/>
          </p:cNvSpPr>
          <p:nvPr>
            <p:ph type="dt" sz="half" idx="10"/>
          </p:nvPr>
        </p:nvSpPr>
        <p:spPr/>
        <p:txBody>
          <a:bodyPr/>
          <a:lstStyle/>
          <a:p>
            <a:fld id="{1FAF3416-4057-4DAA-829D-4CA07428D088}" type="datetimeFigureOut">
              <a:rPr lang="en-US" dirty="0"/>
              <a:t>4/27/2026</a:t>
            </a:fld>
            <a:endParaRPr lang="en-US" dirty="0"/>
          </a:p>
        </p:txBody>
      </p:sp>
      <p:sp>
        <p:nvSpPr>
          <p:cNvPr id="4" name="Footer Placeholder 3"/>
          <p:cNvSpPr>
            <a:spLocks noGrp="1"/>
          </p:cNvSpPr>
          <p:nvPr>
            <p:ph type="ftr" sz="quarter" idx="11"/>
          </p:nvPr>
        </p:nvSpPr>
        <p:spPr/>
        <p:txBody>
          <a:bodyPr/>
          <a:lstStyle/>
          <a:p>
            <a:r>
              <a:rPr lang="en-US" dirty="0"/>
              <a:t>
              </a:t>
            </a:r>
          </a:p>
        </p:txBody>
      </p:sp>
      <p:sp>
        <p:nvSpPr>
          <p:cNvPr id="5" name="Slide Number Placeholder 4"/>
          <p:cNvSpPr>
            <a:spLocks noGrp="1"/>
          </p:cNvSpPr>
          <p:nvPr>
            <p:ph type="sldNum" sz="quarter" idx="12"/>
          </p:nvPr>
        </p:nvSpPr>
        <p:spPr/>
        <p:txBody>
          <a:bodyPr/>
          <a:lstStyle/>
          <a:p>
            <a:fld id="{6D22F896-40B5-4ADD-8801-0D06FADFA095}" type="slidenum">
              <a:rPr lang="en-US" dirty="0"/>
              <a:t>‹#›</a:t>
            </a:fld>
            <a:endParaRPr lang="en-US" dirty="0"/>
          </a:p>
        </p:txBody>
      </p:sp>
      <p:sp>
        <p:nvSpPr>
          <p:cNvPr id="8" name="TextBox 7"/>
          <p:cNvSpPr txBox="1"/>
          <p:nvPr/>
        </p:nvSpPr>
        <p:spPr>
          <a:xfrm>
            <a:off x="2196172" y="641226"/>
            <a:ext cx="415636" cy="369332"/>
          </a:xfrm>
          <a:prstGeom prst="rect">
            <a:avLst/>
          </a:prstGeom>
          <a:noFill/>
        </p:spPr>
        <p:txBody>
          <a:bodyPr wrap="square" rtlCol="0">
            <a:spAutoFit/>
          </a:bodyPr>
          <a:lstStyle/>
          <a:p>
            <a:pPr algn="r"/>
            <a:r>
              <a:rPr lang="en-US" sz="1800" dirty="0">
                <a:solidFill>
                  <a:schemeClr val="accent6"/>
                </a:solidFill>
                <a:latin typeface="Wingdings 3" panose="05040102010807070707" pitchFamily="18" charset="2"/>
              </a:rPr>
              <a:t>z</a:t>
            </a:r>
            <a:endParaRPr lang="en-US" sz="1000" dirty="0">
              <a:solidFill>
                <a:schemeClr val="accent6"/>
              </a:solidFill>
              <a:latin typeface="MS Shell Dlg 2" panose="020B0604030504040204" pitchFamily="34" charset="0"/>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Üres">
    <p:spTree>
      <p:nvGrpSpPr>
        <p:cNvPr id="1" name=""/>
        <p:cNvGrpSpPr/>
        <p:nvPr/>
      </p:nvGrpSpPr>
      <p:grpSpPr>
        <a:xfrm>
          <a:off x="0" y="0"/>
          <a:ext cx="0" cy="0"/>
          <a:chOff x="0" y="0"/>
          <a:chExt cx="0" cy="0"/>
        </a:xfrm>
      </p:grpSpPr>
      <p:sp>
        <p:nvSpPr>
          <p:cNvPr id="12" name="Rectangle 11"/>
          <p:cNvSpPr/>
          <p:nvPr/>
        </p:nvSpPr>
        <p:spPr>
          <a:xfrm>
            <a:off x="1004479" y="0"/>
            <a:ext cx="10372316" cy="6858000"/>
          </a:xfrm>
          <a:prstGeom prst="rect">
            <a:avLst/>
          </a:prstGeom>
          <a:solidFill>
            <a:schemeClr val="bg2">
              <a:alpha val="92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13" name="Rectangle 12"/>
          <p:cNvSpPr/>
          <p:nvPr/>
        </p:nvSpPr>
        <p:spPr>
          <a:xfrm>
            <a:off x="11377328" y="0"/>
            <a:ext cx="27432" cy="6858000"/>
          </a:xfrm>
          <a:prstGeom prst="rect">
            <a:avLst/>
          </a:pr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Date Placeholder 1"/>
          <p:cNvSpPr>
            <a:spLocks noGrp="1"/>
          </p:cNvSpPr>
          <p:nvPr>
            <p:ph type="dt" sz="half" idx="10"/>
          </p:nvPr>
        </p:nvSpPr>
        <p:spPr/>
        <p:txBody>
          <a:bodyPr/>
          <a:lstStyle/>
          <a:p>
            <a:fld id="{921D9284-D300-4297-87F7-E791DCC15DB1}" type="datetimeFigureOut">
              <a:rPr lang="en-US" dirty="0"/>
              <a:t>4/27/2026</a:t>
            </a:fld>
            <a:endParaRPr lang="en-US" dirty="0"/>
          </a:p>
        </p:txBody>
      </p:sp>
      <p:sp>
        <p:nvSpPr>
          <p:cNvPr id="3" name="Footer Placeholder 2"/>
          <p:cNvSpPr>
            <a:spLocks noGrp="1"/>
          </p:cNvSpPr>
          <p:nvPr>
            <p:ph type="ftr" sz="quarter" idx="11"/>
          </p:nvPr>
        </p:nvSpPr>
        <p:spPr/>
        <p:txBody>
          <a:bodyPr/>
          <a:lstStyle/>
          <a:p>
            <a:r>
              <a:rPr lang="en-US" dirty="0"/>
              <a:t>
              </a:t>
            </a:r>
          </a:p>
        </p:txBody>
      </p:sp>
      <p:sp>
        <p:nvSpPr>
          <p:cNvPr id="4" name="Slide Number Placeholder 3"/>
          <p:cNvSpPr>
            <a:spLocks noGrp="1"/>
          </p:cNvSpPr>
          <p:nvPr>
            <p:ph type="sldNum" sz="quarter" idx="12"/>
          </p:nvPr>
        </p:nvSpPr>
        <p:spPr/>
        <p:txBody>
          <a:bodyPr/>
          <a:lstStyle/>
          <a:p>
            <a:fld id="{6D22F896-40B5-4ADD-8801-0D06FADFA095}" type="slidenum">
              <a:rPr lang="en-US" dirty="0"/>
              <a:t>‹#›</a:t>
            </a:fld>
            <a:endParaRPr lang="en-US" dirty="0"/>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Tartalomrész képaláírással">
    <p:spTree>
      <p:nvGrpSpPr>
        <p:cNvPr id="1" name=""/>
        <p:cNvGrpSpPr/>
        <p:nvPr/>
      </p:nvGrpSpPr>
      <p:grpSpPr>
        <a:xfrm>
          <a:off x="0" y="0"/>
          <a:ext cx="0" cy="0"/>
          <a:chOff x="0" y="0"/>
          <a:chExt cx="0" cy="0"/>
        </a:xfrm>
      </p:grpSpPr>
      <p:sp>
        <p:nvSpPr>
          <p:cNvPr id="25" name="Rectangle 24"/>
          <p:cNvSpPr/>
          <p:nvPr/>
        </p:nvSpPr>
        <p:spPr>
          <a:xfrm>
            <a:off x="1004479" y="0"/>
            <a:ext cx="10372316" cy="6858000"/>
          </a:xfrm>
          <a:prstGeom prst="rect">
            <a:avLst/>
          </a:prstGeom>
          <a:solidFill>
            <a:schemeClr val="bg2">
              <a:alpha val="92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6" name="Rectangle 25"/>
          <p:cNvSpPr/>
          <p:nvPr/>
        </p:nvSpPr>
        <p:spPr>
          <a:xfrm>
            <a:off x="11377328" y="0"/>
            <a:ext cx="27432" cy="6858000"/>
          </a:xfrm>
          <a:prstGeom prst="rect">
            <a:avLst/>
          </a:pr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10" name="TextBox 9"/>
          <p:cNvSpPr txBox="1"/>
          <p:nvPr/>
        </p:nvSpPr>
        <p:spPr>
          <a:xfrm>
            <a:off x="1554154" y="1127550"/>
            <a:ext cx="415636" cy="369332"/>
          </a:xfrm>
          <a:prstGeom prst="rect">
            <a:avLst/>
          </a:prstGeom>
          <a:noFill/>
        </p:spPr>
        <p:txBody>
          <a:bodyPr wrap="square" rtlCol="0">
            <a:spAutoFit/>
          </a:bodyPr>
          <a:lstStyle/>
          <a:p>
            <a:pPr algn="r"/>
            <a:r>
              <a:rPr lang="en-US" sz="1800" dirty="0">
                <a:solidFill>
                  <a:schemeClr val="accent6"/>
                </a:solidFill>
                <a:latin typeface="Wingdings 3" panose="05040102010807070707" pitchFamily="18" charset="2"/>
              </a:rPr>
              <a:t>z</a:t>
            </a:r>
            <a:endParaRPr lang="en-US" sz="1000" dirty="0">
              <a:solidFill>
                <a:schemeClr val="accent6"/>
              </a:solidFill>
              <a:latin typeface="MS Shell Dlg 2" panose="020B0604030504040204" pitchFamily="34" charset="0"/>
            </a:endParaRPr>
          </a:p>
        </p:txBody>
      </p:sp>
      <p:sp>
        <p:nvSpPr>
          <p:cNvPr id="2" name="Title 1"/>
          <p:cNvSpPr>
            <a:spLocks noGrp="1"/>
          </p:cNvSpPr>
          <p:nvPr>
            <p:ph type="title"/>
          </p:nvPr>
        </p:nvSpPr>
        <p:spPr>
          <a:xfrm>
            <a:off x="1970323" y="1282451"/>
            <a:ext cx="2664361" cy="1903241"/>
          </a:xfrm>
        </p:spPr>
        <p:txBody>
          <a:bodyPr anchor="b">
            <a:normAutofit/>
          </a:bodyPr>
          <a:lstStyle>
            <a:lvl1pPr algn="l">
              <a:defRPr sz="2400"/>
            </a:lvl1pPr>
          </a:lstStyle>
          <a:p>
            <a:r>
              <a:rPr lang="hu-HU"/>
              <a:t>Mintacím szerkesztése</a:t>
            </a:r>
            <a:endParaRPr lang="en-US" dirty="0"/>
          </a:p>
        </p:txBody>
      </p:sp>
      <p:sp>
        <p:nvSpPr>
          <p:cNvPr id="3" name="Content Placeholder 2"/>
          <p:cNvSpPr>
            <a:spLocks noGrp="1"/>
          </p:cNvSpPr>
          <p:nvPr>
            <p:ph idx="1"/>
          </p:nvPr>
        </p:nvSpPr>
        <p:spPr>
          <a:xfrm>
            <a:off x="5120154" y="805818"/>
            <a:ext cx="5446278" cy="5244126"/>
          </a:xfrm>
        </p:spPr>
        <p:txBody>
          <a:bodyPr anchor="ctr"/>
          <a:lstStyle/>
          <a:p>
            <a:pPr lvl="0"/>
            <a:r>
              <a:rPr lang="hu-HU"/>
              <a:t>Mintaszöveg szerkesztése</a:t>
            </a:r>
          </a:p>
          <a:p>
            <a:pPr lvl="1"/>
            <a:r>
              <a:rPr lang="hu-HU"/>
              <a:t>Második szint</a:t>
            </a:r>
          </a:p>
          <a:p>
            <a:pPr lvl="2"/>
            <a:r>
              <a:rPr lang="hu-HU"/>
              <a:t>Harmadik szint</a:t>
            </a:r>
          </a:p>
          <a:p>
            <a:pPr lvl="3"/>
            <a:r>
              <a:rPr lang="hu-HU"/>
              <a:t>Negyedik szint</a:t>
            </a:r>
          </a:p>
          <a:p>
            <a:pPr lvl="4"/>
            <a:r>
              <a:rPr lang="hu-HU"/>
              <a:t>Ötödik szint</a:t>
            </a:r>
            <a:endParaRPr lang="en-US" dirty="0"/>
          </a:p>
        </p:txBody>
      </p:sp>
      <p:sp>
        <p:nvSpPr>
          <p:cNvPr id="4" name="Text Placeholder 3"/>
          <p:cNvSpPr>
            <a:spLocks noGrp="1"/>
          </p:cNvSpPr>
          <p:nvPr>
            <p:ph type="body" sz="half" idx="2"/>
          </p:nvPr>
        </p:nvSpPr>
        <p:spPr>
          <a:xfrm>
            <a:off x="1970322" y="3186154"/>
            <a:ext cx="2664361" cy="2386397"/>
          </a:xfrm>
        </p:spPr>
        <p:txBody>
          <a:bodyPr/>
          <a:lstStyle>
            <a:lvl1pPr marL="0" indent="0" algn="l">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hu-HU"/>
              <a:t>Mintaszöveg szerkesztése</a:t>
            </a:r>
          </a:p>
        </p:txBody>
      </p:sp>
      <p:sp>
        <p:nvSpPr>
          <p:cNvPr id="5" name="Date Placeholder 4"/>
          <p:cNvSpPr>
            <a:spLocks noGrp="1"/>
          </p:cNvSpPr>
          <p:nvPr>
            <p:ph type="dt" sz="half" idx="10"/>
          </p:nvPr>
        </p:nvSpPr>
        <p:spPr/>
        <p:txBody>
          <a:bodyPr/>
          <a:lstStyle/>
          <a:p>
            <a:fld id="{37D525BB-DA17-4BA0-B3C8-3AC3ABC827E6}" type="datetimeFigureOut">
              <a:rPr lang="en-US" dirty="0"/>
              <a:t>4/27/2026</a:t>
            </a:fld>
            <a:endParaRPr lang="en-US" dirty="0"/>
          </a:p>
        </p:txBody>
      </p:sp>
      <p:sp>
        <p:nvSpPr>
          <p:cNvPr id="6" name="Footer Placeholder 5"/>
          <p:cNvSpPr>
            <a:spLocks noGrp="1"/>
          </p:cNvSpPr>
          <p:nvPr>
            <p:ph type="ftr" sz="quarter" idx="11"/>
          </p:nvPr>
        </p:nvSpPr>
        <p:spPr/>
        <p:txBody>
          <a:bodyPr/>
          <a:lstStyle/>
          <a:p>
            <a:r>
              <a:rPr lang="en-US" dirty="0"/>
              <a:t>
              </a:t>
            </a:r>
          </a:p>
        </p:txBody>
      </p:sp>
      <p:sp>
        <p:nvSpPr>
          <p:cNvPr id="7" name="Slide Number Placeholder 6"/>
          <p:cNvSpPr>
            <a:spLocks noGrp="1"/>
          </p:cNvSpPr>
          <p:nvPr>
            <p:ph type="sldNum" sz="quarter" idx="12"/>
          </p:nvPr>
        </p:nvSpPr>
        <p:spPr/>
        <p:txBody>
          <a:bodyPr/>
          <a:lstStyle/>
          <a:p>
            <a:fld id="{6D22F896-40B5-4ADD-8801-0D06FADFA095}" type="slidenum">
              <a:rPr lang="en-US" dirty="0"/>
              <a:t>‹#›</a:t>
            </a:fld>
            <a:endParaRPr lang="en-US" dirty="0"/>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Kép képaláírással">
    <p:spTree>
      <p:nvGrpSpPr>
        <p:cNvPr id="1" name=""/>
        <p:cNvGrpSpPr/>
        <p:nvPr/>
      </p:nvGrpSpPr>
      <p:grpSpPr>
        <a:xfrm>
          <a:off x="0" y="0"/>
          <a:ext cx="0" cy="0"/>
          <a:chOff x="0" y="0"/>
          <a:chExt cx="0" cy="0"/>
        </a:xfrm>
      </p:grpSpPr>
      <p:sp>
        <p:nvSpPr>
          <p:cNvPr id="19" name="Rectangle 18"/>
          <p:cNvSpPr/>
          <p:nvPr/>
        </p:nvSpPr>
        <p:spPr>
          <a:xfrm>
            <a:off x="1004479" y="0"/>
            <a:ext cx="10372316" cy="6858000"/>
          </a:xfrm>
          <a:prstGeom prst="rect">
            <a:avLst/>
          </a:prstGeom>
          <a:solidFill>
            <a:schemeClr val="bg2">
              <a:alpha val="92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0" name="Rectangle 19"/>
          <p:cNvSpPr/>
          <p:nvPr/>
        </p:nvSpPr>
        <p:spPr>
          <a:xfrm>
            <a:off x="11377328" y="0"/>
            <a:ext cx="27432" cy="6858000"/>
          </a:xfrm>
          <a:prstGeom prst="rect">
            <a:avLst/>
          </a:pr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3" name="Picture Placeholder 2"/>
          <p:cNvSpPr>
            <a:spLocks noGrp="1" noChangeAspect="1"/>
          </p:cNvSpPr>
          <p:nvPr>
            <p:ph type="pic" idx="1"/>
          </p:nvPr>
        </p:nvSpPr>
        <p:spPr>
          <a:xfrm>
            <a:off x="6747062" y="3229"/>
            <a:ext cx="4629734" cy="6858000"/>
          </a:xfrm>
          <a:solidFill>
            <a:schemeClr val="tx1">
              <a:alpha val="10000"/>
            </a:schemeClr>
          </a:solidFill>
          <a:ln w="9525" cap="sq">
            <a:noFill/>
            <a:miter lim="800000"/>
          </a:ln>
          <a:effectLst/>
          <a:scene3d>
            <a:camera prst="orthographicFront"/>
            <a:lightRig rig="twoPt" dir="t">
              <a:rot lat="0" lon="0" rev="7200000"/>
            </a:lightRig>
          </a:scene3d>
          <a:sp3d>
            <a:bevelT w="25400" h="19050"/>
            <a:contourClr>
              <a:srgbClr val="FFFFFF"/>
            </a:contourClr>
          </a:sp3d>
        </p:spPr>
        <p:txBody>
          <a:bodyPr anchor="t">
            <a:normAutofit/>
          </a:bodyPr>
          <a:lstStyle>
            <a:lvl1pPr marL="0" indent="0" algn="ctr">
              <a:buNone/>
              <a:defRPr sz="28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hu-HU"/>
              <a:t>Kép beszúrásához kattintson az ikonra</a:t>
            </a:r>
            <a:endParaRPr lang="en-US" dirty="0"/>
          </a:p>
        </p:txBody>
      </p:sp>
      <p:sp>
        <p:nvSpPr>
          <p:cNvPr id="10" name="TextBox 9"/>
          <p:cNvSpPr txBox="1"/>
          <p:nvPr/>
        </p:nvSpPr>
        <p:spPr>
          <a:xfrm>
            <a:off x="1554686" y="1127550"/>
            <a:ext cx="415636" cy="369332"/>
          </a:xfrm>
          <a:prstGeom prst="rect">
            <a:avLst/>
          </a:prstGeom>
          <a:noFill/>
        </p:spPr>
        <p:txBody>
          <a:bodyPr wrap="square" rtlCol="0">
            <a:spAutoFit/>
          </a:bodyPr>
          <a:lstStyle/>
          <a:p>
            <a:pPr algn="r"/>
            <a:r>
              <a:rPr lang="en-US" sz="1800" dirty="0">
                <a:solidFill>
                  <a:schemeClr val="accent6"/>
                </a:solidFill>
                <a:latin typeface="Wingdings 3" panose="05040102010807070707" pitchFamily="18" charset="2"/>
              </a:rPr>
              <a:t>z</a:t>
            </a:r>
            <a:endParaRPr lang="en-US" sz="1000" dirty="0">
              <a:solidFill>
                <a:schemeClr val="accent6"/>
              </a:solidFill>
              <a:latin typeface="MS Shell Dlg 2" panose="020B0604030504040204" pitchFamily="34" charset="0"/>
            </a:endParaRPr>
          </a:p>
        </p:txBody>
      </p:sp>
      <p:sp>
        <p:nvSpPr>
          <p:cNvPr id="2" name="Title 1"/>
          <p:cNvSpPr>
            <a:spLocks noGrp="1"/>
          </p:cNvSpPr>
          <p:nvPr>
            <p:ph type="title"/>
          </p:nvPr>
        </p:nvSpPr>
        <p:spPr>
          <a:xfrm>
            <a:off x="1971241" y="1282452"/>
            <a:ext cx="3970986" cy="1900473"/>
          </a:xfrm>
        </p:spPr>
        <p:txBody>
          <a:bodyPr anchor="b">
            <a:normAutofit/>
          </a:bodyPr>
          <a:lstStyle>
            <a:lvl1pPr algn="l">
              <a:defRPr sz="3200"/>
            </a:lvl1pPr>
          </a:lstStyle>
          <a:p>
            <a:r>
              <a:rPr lang="hu-HU"/>
              <a:t>Mintacím szerkesztése</a:t>
            </a:r>
            <a:endParaRPr lang="en-US" dirty="0"/>
          </a:p>
        </p:txBody>
      </p:sp>
      <p:sp>
        <p:nvSpPr>
          <p:cNvPr id="4" name="Text Placeholder 3"/>
          <p:cNvSpPr>
            <a:spLocks noGrp="1"/>
          </p:cNvSpPr>
          <p:nvPr>
            <p:ph type="body" sz="half" idx="2"/>
          </p:nvPr>
        </p:nvSpPr>
        <p:spPr>
          <a:xfrm>
            <a:off x="1970322" y="3182928"/>
            <a:ext cx="3971874" cy="2386394"/>
          </a:xfrm>
        </p:spPr>
        <p:txBody>
          <a:bodyPr>
            <a:normAutofit/>
          </a:bodyPr>
          <a:lstStyle>
            <a:lvl1pPr marL="0" indent="0" algn="l">
              <a:buNone/>
              <a:defRPr sz="20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hu-HU"/>
              <a:t>Mintaszöveg szerkesztése</a:t>
            </a:r>
          </a:p>
        </p:txBody>
      </p:sp>
      <p:sp>
        <p:nvSpPr>
          <p:cNvPr id="5" name="Date Placeholder 4"/>
          <p:cNvSpPr>
            <a:spLocks noGrp="1"/>
          </p:cNvSpPr>
          <p:nvPr>
            <p:ph type="dt" sz="half" idx="10"/>
          </p:nvPr>
        </p:nvSpPr>
        <p:spPr/>
        <p:txBody>
          <a:bodyPr/>
          <a:lstStyle/>
          <a:p>
            <a:fld id="{B16C4C9A-3960-41CF-A4E9-2A8FB932454B}" type="datetimeFigureOut">
              <a:rPr lang="en-US" dirty="0"/>
              <a:t>4/27/2026</a:t>
            </a:fld>
            <a:endParaRPr lang="en-US" dirty="0"/>
          </a:p>
        </p:txBody>
      </p:sp>
      <p:sp>
        <p:nvSpPr>
          <p:cNvPr id="6" name="Footer Placeholder 5"/>
          <p:cNvSpPr>
            <a:spLocks noGrp="1"/>
          </p:cNvSpPr>
          <p:nvPr>
            <p:ph type="ftr" sz="quarter" idx="11"/>
          </p:nvPr>
        </p:nvSpPr>
        <p:spPr/>
        <p:txBody>
          <a:bodyPr/>
          <a:lstStyle/>
          <a:p>
            <a:r>
              <a:rPr lang="en-US" dirty="0"/>
              <a:t>
              </a:t>
            </a:r>
          </a:p>
        </p:txBody>
      </p:sp>
      <p:sp>
        <p:nvSpPr>
          <p:cNvPr id="7" name="Slide Number Placeholder 6"/>
          <p:cNvSpPr>
            <a:spLocks noGrp="1"/>
          </p:cNvSpPr>
          <p:nvPr>
            <p:ph type="sldNum" sz="quarter" idx="12"/>
          </p:nvPr>
        </p:nvSpPr>
        <p:spPr/>
        <p:txBody>
          <a:bodyPr/>
          <a:lstStyle/>
          <a:p>
            <a:fld id="{6D22F896-40B5-4ADD-8801-0D06FADFA095}" type="slidenum">
              <a:rPr lang="en-US" dirty="0"/>
              <a:t>‹#›</a:t>
            </a:fld>
            <a:endParaRPr lang="en-US" dirty="0"/>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Cím és függőleges szöveg">
    <p:spTree>
      <p:nvGrpSpPr>
        <p:cNvPr id="1" name=""/>
        <p:cNvGrpSpPr/>
        <p:nvPr/>
      </p:nvGrpSpPr>
      <p:grpSpPr>
        <a:xfrm>
          <a:off x="0" y="0"/>
          <a:ext cx="0" cy="0"/>
          <a:chOff x="0" y="0"/>
          <a:chExt cx="0" cy="0"/>
        </a:xfrm>
      </p:grpSpPr>
      <p:sp>
        <p:nvSpPr>
          <p:cNvPr id="14" name="Rectangle 13"/>
          <p:cNvSpPr/>
          <p:nvPr/>
        </p:nvSpPr>
        <p:spPr>
          <a:xfrm>
            <a:off x="1004479" y="0"/>
            <a:ext cx="10372316" cy="6858000"/>
          </a:xfrm>
          <a:prstGeom prst="rect">
            <a:avLst/>
          </a:prstGeom>
          <a:solidFill>
            <a:schemeClr val="bg2">
              <a:alpha val="92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15" name="Rectangle 14"/>
          <p:cNvSpPr/>
          <p:nvPr/>
        </p:nvSpPr>
        <p:spPr>
          <a:xfrm>
            <a:off x="11377328" y="0"/>
            <a:ext cx="27432" cy="6858000"/>
          </a:xfrm>
          <a:prstGeom prst="rect">
            <a:avLst/>
          </a:pr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9" name="TextBox 8"/>
          <p:cNvSpPr txBox="1"/>
          <p:nvPr/>
        </p:nvSpPr>
        <p:spPr>
          <a:xfrm>
            <a:off x="2194236" y="641225"/>
            <a:ext cx="415636" cy="369332"/>
          </a:xfrm>
          <a:prstGeom prst="rect">
            <a:avLst/>
          </a:prstGeom>
          <a:noFill/>
        </p:spPr>
        <p:txBody>
          <a:bodyPr wrap="square" rtlCol="0">
            <a:spAutoFit/>
          </a:bodyPr>
          <a:lstStyle/>
          <a:p>
            <a:pPr algn="r"/>
            <a:r>
              <a:rPr lang="en-US" sz="1800" dirty="0">
                <a:solidFill>
                  <a:schemeClr val="accent6"/>
                </a:solidFill>
                <a:latin typeface="Wingdings 3" panose="05040102010807070707" pitchFamily="18" charset="2"/>
              </a:rPr>
              <a:t>z</a:t>
            </a:r>
            <a:endParaRPr lang="en-US" sz="1000" dirty="0">
              <a:solidFill>
                <a:schemeClr val="accent6"/>
              </a:solidFill>
              <a:latin typeface="MS Shell Dlg 2" panose="020B0604030504040204" pitchFamily="34" charset="0"/>
            </a:endParaRPr>
          </a:p>
        </p:txBody>
      </p:sp>
      <p:sp>
        <p:nvSpPr>
          <p:cNvPr id="2" name="Title 1"/>
          <p:cNvSpPr>
            <a:spLocks noGrp="1"/>
          </p:cNvSpPr>
          <p:nvPr>
            <p:ph type="title"/>
          </p:nvPr>
        </p:nvSpPr>
        <p:spPr>
          <a:xfrm>
            <a:off x="2611808" y="808056"/>
            <a:ext cx="7954091" cy="1077229"/>
          </a:xfrm>
        </p:spPr>
        <p:txBody>
          <a:bodyPr/>
          <a:lstStyle/>
          <a:p>
            <a:r>
              <a:rPr lang="hu-HU"/>
              <a:t>Mintacím szerkesztése</a:t>
            </a:r>
            <a:endParaRPr lang="en-US" dirty="0"/>
          </a:p>
        </p:txBody>
      </p:sp>
      <p:sp>
        <p:nvSpPr>
          <p:cNvPr id="3" name="Vertical Text Placeholder 2"/>
          <p:cNvSpPr>
            <a:spLocks noGrp="1"/>
          </p:cNvSpPr>
          <p:nvPr>
            <p:ph type="body" orient="vert" idx="1"/>
          </p:nvPr>
        </p:nvSpPr>
        <p:spPr/>
        <p:txBody>
          <a:bodyPr vert="eaVert"/>
          <a:lstStyle/>
          <a:p>
            <a:pPr lvl="0"/>
            <a:r>
              <a:rPr lang="hu-HU"/>
              <a:t>Mintaszöveg szerkesztése</a:t>
            </a:r>
          </a:p>
          <a:p>
            <a:pPr lvl="1"/>
            <a:r>
              <a:rPr lang="hu-HU"/>
              <a:t>Második szint</a:t>
            </a:r>
          </a:p>
          <a:p>
            <a:pPr lvl="2"/>
            <a:r>
              <a:rPr lang="hu-HU"/>
              <a:t>Harmadik szint</a:t>
            </a:r>
          </a:p>
          <a:p>
            <a:pPr lvl="3"/>
            <a:r>
              <a:rPr lang="hu-HU"/>
              <a:t>Negyedik szint</a:t>
            </a:r>
          </a:p>
          <a:p>
            <a:pPr lvl="4"/>
            <a:r>
              <a:rPr lang="hu-HU"/>
              <a:t>Ötödik szint</a:t>
            </a:r>
            <a:endParaRPr lang="en-US" dirty="0"/>
          </a:p>
        </p:txBody>
      </p:sp>
      <p:sp>
        <p:nvSpPr>
          <p:cNvPr id="4" name="Date Placeholder 3"/>
          <p:cNvSpPr>
            <a:spLocks noGrp="1"/>
          </p:cNvSpPr>
          <p:nvPr>
            <p:ph type="dt" sz="half" idx="10"/>
          </p:nvPr>
        </p:nvSpPr>
        <p:spPr/>
        <p:txBody>
          <a:bodyPr/>
          <a:lstStyle/>
          <a:p>
            <a:fld id="{D857E33E-8B18-4087-B112-809917729534}" type="datetimeFigureOut">
              <a:rPr lang="en-US" dirty="0"/>
              <a:t>4/27/2026</a:t>
            </a:fld>
            <a:endParaRPr lang="en-US" dirty="0"/>
          </a:p>
        </p:txBody>
      </p:sp>
      <p:sp>
        <p:nvSpPr>
          <p:cNvPr id="5" name="Footer Placeholder 4"/>
          <p:cNvSpPr>
            <a:spLocks noGrp="1"/>
          </p:cNvSpPr>
          <p:nvPr>
            <p:ph type="ftr" sz="quarter" idx="11"/>
          </p:nvPr>
        </p:nvSpPr>
        <p:spPr/>
        <p:txBody>
          <a:bodyPr/>
          <a:lstStyle/>
          <a:p>
            <a:r>
              <a:rPr lang="en-US" dirty="0"/>
              <a:t>
              </a:t>
            </a:r>
          </a:p>
        </p:txBody>
      </p:sp>
      <p:sp>
        <p:nvSpPr>
          <p:cNvPr id="6" name="Slide Number Placeholder 5"/>
          <p:cNvSpPr>
            <a:spLocks noGrp="1"/>
          </p:cNvSpPr>
          <p:nvPr>
            <p:ph type="sldNum" sz="quarter" idx="12"/>
          </p:nvPr>
        </p:nvSpPr>
        <p:spPr/>
        <p:txBody>
          <a:bodyPr/>
          <a:lstStyle/>
          <a:p>
            <a:fld id="{6D22F896-40B5-4ADD-8801-0D06FADFA095}" type="slidenum">
              <a:rPr lang="en-US" dirty="0"/>
              <a:t>‹#›</a:t>
            </a:fld>
            <a:endParaRPr lang="en-US" dirty="0"/>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Függőleges cím és szöveg">
    <p:spTree>
      <p:nvGrpSpPr>
        <p:cNvPr id="1" name=""/>
        <p:cNvGrpSpPr/>
        <p:nvPr/>
      </p:nvGrpSpPr>
      <p:grpSpPr>
        <a:xfrm>
          <a:off x="0" y="0"/>
          <a:ext cx="0" cy="0"/>
          <a:chOff x="0" y="0"/>
          <a:chExt cx="0" cy="0"/>
        </a:xfrm>
      </p:grpSpPr>
      <p:sp>
        <p:nvSpPr>
          <p:cNvPr id="15" name="Rectangle 14"/>
          <p:cNvSpPr/>
          <p:nvPr/>
        </p:nvSpPr>
        <p:spPr>
          <a:xfrm>
            <a:off x="1004479" y="0"/>
            <a:ext cx="10372316" cy="6858000"/>
          </a:xfrm>
          <a:prstGeom prst="rect">
            <a:avLst/>
          </a:prstGeom>
          <a:solidFill>
            <a:schemeClr val="bg2">
              <a:alpha val="92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16" name="Rectangle 15"/>
          <p:cNvSpPr/>
          <p:nvPr/>
        </p:nvSpPr>
        <p:spPr>
          <a:xfrm>
            <a:off x="11377328" y="0"/>
            <a:ext cx="27432" cy="6858000"/>
          </a:xfrm>
          <a:prstGeom prst="rect">
            <a:avLst/>
          </a:pr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9" name="TextBox 8"/>
          <p:cNvSpPr txBox="1"/>
          <p:nvPr/>
        </p:nvSpPr>
        <p:spPr>
          <a:xfrm rot="5400000">
            <a:off x="10337141" y="416061"/>
            <a:ext cx="415636" cy="369332"/>
          </a:xfrm>
          <a:prstGeom prst="rect">
            <a:avLst/>
          </a:prstGeom>
          <a:noFill/>
        </p:spPr>
        <p:txBody>
          <a:bodyPr wrap="square" rtlCol="0">
            <a:spAutoFit/>
          </a:bodyPr>
          <a:lstStyle/>
          <a:p>
            <a:pPr algn="r"/>
            <a:r>
              <a:rPr lang="en-US" sz="1800" dirty="0">
                <a:solidFill>
                  <a:schemeClr val="accent6"/>
                </a:solidFill>
                <a:latin typeface="Wingdings 3" panose="05040102010807070707" pitchFamily="18" charset="2"/>
              </a:rPr>
              <a:t>z</a:t>
            </a:r>
            <a:endParaRPr lang="en-US" sz="1000" dirty="0">
              <a:solidFill>
                <a:schemeClr val="accent6"/>
              </a:solidFill>
              <a:latin typeface="MS Shell Dlg 2" panose="020B0604030504040204" pitchFamily="34" charset="0"/>
            </a:endParaRPr>
          </a:p>
        </p:txBody>
      </p:sp>
      <p:sp>
        <p:nvSpPr>
          <p:cNvPr id="2" name="Vertical Title 1"/>
          <p:cNvSpPr>
            <a:spLocks noGrp="1"/>
          </p:cNvSpPr>
          <p:nvPr>
            <p:ph type="title" orient="vert"/>
          </p:nvPr>
        </p:nvSpPr>
        <p:spPr>
          <a:xfrm>
            <a:off x="9239380" y="805818"/>
            <a:ext cx="1326519" cy="5244126"/>
          </a:xfrm>
        </p:spPr>
        <p:txBody>
          <a:bodyPr vert="eaVert"/>
          <a:lstStyle>
            <a:lvl1pPr algn="l">
              <a:defRPr/>
            </a:lvl1pPr>
          </a:lstStyle>
          <a:p>
            <a:r>
              <a:rPr lang="hu-HU"/>
              <a:t>Mintacím szerkesztése</a:t>
            </a:r>
            <a:endParaRPr lang="en-US" dirty="0"/>
          </a:p>
        </p:txBody>
      </p:sp>
      <p:sp>
        <p:nvSpPr>
          <p:cNvPr id="3" name="Vertical Text Placeholder 2"/>
          <p:cNvSpPr>
            <a:spLocks noGrp="1"/>
          </p:cNvSpPr>
          <p:nvPr>
            <p:ph type="body" orient="vert" idx="1"/>
          </p:nvPr>
        </p:nvSpPr>
        <p:spPr>
          <a:xfrm>
            <a:off x="2608751" y="970410"/>
            <a:ext cx="6466903" cy="5079534"/>
          </a:xfrm>
        </p:spPr>
        <p:txBody>
          <a:bodyPr vert="eaVert"/>
          <a:lstStyle/>
          <a:p>
            <a:pPr lvl="0"/>
            <a:r>
              <a:rPr lang="hu-HU"/>
              <a:t>Mintaszöveg szerkesztése</a:t>
            </a:r>
          </a:p>
          <a:p>
            <a:pPr lvl="1"/>
            <a:r>
              <a:rPr lang="hu-HU"/>
              <a:t>Második szint</a:t>
            </a:r>
          </a:p>
          <a:p>
            <a:pPr lvl="2"/>
            <a:r>
              <a:rPr lang="hu-HU"/>
              <a:t>Harmadik szint</a:t>
            </a:r>
          </a:p>
          <a:p>
            <a:pPr lvl="3"/>
            <a:r>
              <a:rPr lang="hu-HU"/>
              <a:t>Negyedik szint</a:t>
            </a:r>
          </a:p>
          <a:p>
            <a:pPr lvl="4"/>
            <a:r>
              <a:rPr lang="hu-HU"/>
              <a:t>Ötödik szint</a:t>
            </a:r>
            <a:endParaRPr lang="en-US" dirty="0"/>
          </a:p>
        </p:txBody>
      </p:sp>
      <p:sp>
        <p:nvSpPr>
          <p:cNvPr id="4" name="Date Placeholder 3"/>
          <p:cNvSpPr>
            <a:spLocks noGrp="1"/>
          </p:cNvSpPr>
          <p:nvPr>
            <p:ph type="dt" sz="half" idx="10"/>
          </p:nvPr>
        </p:nvSpPr>
        <p:spPr/>
        <p:txBody>
          <a:bodyPr/>
          <a:lstStyle/>
          <a:p>
            <a:fld id="{D3FFE419-2371-464F-8239-3959401C3561}" type="datetimeFigureOut">
              <a:rPr lang="en-US" dirty="0"/>
              <a:t>4/27/2026</a:t>
            </a:fld>
            <a:endParaRPr lang="en-US" dirty="0"/>
          </a:p>
        </p:txBody>
      </p:sp>
      <p:sp>
        <p:nvSpPr>
          <p:cNvPr id="5" name="Footer Placeholder 4"/>
          <p:cNvSpPr>
            <a:spLocks noGrp="1"/>
          </p:cNvSpPr>
          <p:nvPr>
            <p:ph type="ftr" sz="quarter" idx="11"/>
          </p:nvPr>
        </p:nvSpPr>
        <p:spPr/>
        <p:txBody>
          <a:bodyPr/>
          <a:lstStyle/>
          <a:p>
            <a:r>
              <a:rPr lang="en-US" dirty="0"/>
              <a:t>
              </a:t>
            </a:r>
          </a:p>
        </p:txBody>
      </p:sp>
      <p:sp>
        <p:nvSpPr>
          <p:cNvPr id="6" name="Slide Number Placeholder 5"/>
          <p:cNvSpPr>
            <a:spLocks noGrp="1"/>
          </p:cNvSpPr>
          <p:nvPr>
            <p:ph type="sldNum" sz="quarter" idx="12"/>
          </p:nvPr>
        </p:nvSpPr>
        <p:spPr/>
        <p:txBody>
          <a:bodyPr/>
          <a:lstStyle/>
          <a:p>
            <a:fld id="{6D22F896-40B5-4ADD-8801-0D06FADFA095}" type="slidenum">
              <a:rPr lang="en-US" dirty="0"/>
              <a:t>‹#›</a:t>
            </a:fld>
            <a:endParaRPr lang="en-US" dirty="0"/>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image" Target="../media/image2.pn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image" Target="../media/image3.png"/></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3">
        <a:schemeClr val="bg1"/>
      </p:bgRef>
    </p:bg>
    <p:spTree>
      <p:nvGrpSpPr>
        <p:cNvPr id="1" name=""/>
        <p:cNvGrpSpPr/>
        <p:nvPr/>
      </p:nvGrpSpPr>
      <p:grpSpPr>
        <a:xfrm>
          <a:off x="0" y="0"/>
          <a:ext cx="0" cy="0"/>
          <a:chOff x="0" y="0"/>
          <a:chExt cx="0" cy="0"/>
        </a:xfrm>
      </p:grpSpPr>
      <p:pic>
        <p:nvPicPr>
          <p:cNvPr id="18" name="Picture 17"/>
          <p:cNvPicPr>
            <a:picLocks noChangeAspect="1"/>
          </p:cNvPicPr>
          <p:nvPr/>
        </p:nvPicPr>
        <p:blipFill>
          <a:blip r:embed="rId13">
            <a:extLst>
              <a:ext uri="{28A0092B-C50C-407E-A947-70E740481C1C}">
                <a14:useLocalDpi xmlns:a14="http://schemas.microsoft.com/office/drawing/2010/main" val="0"/>
              </a:ext>
            </a:extLst>
          </a:blip>
          <a:stretch>
            <a:fillRect/>
          </a:stretch>
        </p:blipFill>
        <p:spPr>
          <a:xfrm>
            <a:off x="2831794" y="2105202"/>
            <a:ext cx="9360205" cy="4752798"/>
          </a:xfrm>
          <a:prstGeom prst="rect">
            <a:avLst/>
          </a:prstGeom>
        </p:spPr>
      </p:pic>
      <p:pic>
        <p:nvPicPr>
          <p:cNvPr id="15" name="Picture 14"/>
          <p:cNvPicPr>
            <a:picLocks noChangeAspect="1"/>
          </p:cNvPicPr>
          <p:nvPr/>
        </p:nvPicPr>
        <p:blipFill>
          <a:blip r:embed="rId14">
            <a:extLst>
              <a:ext uri="{28A0092B-C50C-407E-A947-70E740481C1C}">
                <a14:useLocalDpi xmlns:a14="http://schemas.microsoft.com/office/drawing/2010/main" val="0"/>
              </a:ext>
            </a:extLst>
          </a:blip>
          <a:stretch>
            <a:fillRect/>
          </a:stretch>
        </p:blipFill>
        <p:spPr>
          <a:xfrm>
            <a:off x="0" y="0"/>
            <a:ext cx="12189867" cy="6858000"/>
          </a:xfrm>
          <a:prstGeom prst="rect">
            <a:avLst/>
          </a:prstGeom>
        </p:spPr>
      </p:pic>
      <p:sp>
        <p:nvSpPr>
          <p:cNvPr id="8" name="Rectangle 7"/>
          <p:cNvSpPr/>
          <p:nvPr/>
        </p:nvSpPr>
        <p:spPr>
          <a:xfrm>
            <a:off x="0" y="0"/>
            <a:ext cx="964174" cy="6858000"/>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Placeholder 1"/>
          <p:cNvSpPr>
            <a:spLocks noGrp="1"/>
          </p:cNvSpPr>
          <p:nvPr>
            <p:ph type="title"/>
          </p:nvPr>
        </p:nvSpPr>
        <p:spPr>
          <a:xfrm>
            <a:off x="2611808" y="808056"/>
            <a:ext cx="7958331" cy="1077229"/>
          </a:xfrm>
          <a:prstGeom prst="rect">
            <a:avLst/>
          </a:prstGeom>
        </p:spPr>
        <p:txBody>
          <a:bodyPr vert="horz" lIns="91440" tIns="45720" rIns="91440" bIns="45720" rtlCol="0" anchor="t">
            <a:normAutofit/>
          </a:bodyPr>
          <a:lstStyle/>
          <a:p>
            <a:r>
              <a:rPr lang="hu-HU"/>
              <a:t>Mintacím szerkesztése</a:t>
            </a:r>
            <a:endParaRPr lang="en-US" dirty="0"/>
          </a:p>
        </p:txBody>
      </p:sp>
      <p:sp>
        <p:nvSpPr>
          <p:cNvPr id="3" name="Text Placeholder 2"/>
          <p:cNvSpPr>
            <a:spLocks noGrp="1"/>
          </p:cNvSpPr>
          <p:nvPr>
            <p:ph type="body" idx="1"/>
          </p:nvPr>
        </p:nvSpPr>
        <p:spPr>
          <a:xfrm>
            <a:off x="2773599" y="2052116"/>
            <a:ext cx="7796540" cy="3997828"/>
          </a:xfrm>
          <a:prstGeom prst="rect">
            <a:avLst/>
          </a:prstGeom>
        </p:spPr>
        <p:txBody>
          <a:bodyPr vert="horz" lIns="91440" tIns="45720" rIns="91440" bIns="45720" rtlCol="0">
            <a:normAutofit/>
          </a:bodyPr>
          <a:lstStyle/>
          <a:p>
            <a:pPr lvl="0"/>
            <a:r>
              <a:rPr lang="hu-HU"/>
              <a:t>Mintaszöveg szerkesztése</a:t>
            </a:r>
          </a:p>
          <a:p>
            <a:pPr lvl="1"/>
            <a:r>
              <a:rPr lang="hu-HU"/>
              <a:t>Második szint</a:t>
            </a:r>
          </a:p>
          <a:p>
            <a:pPr lvl="2"/>
            <a:r>
              <a:rPr lang="hu-HU"/>
              <a:t>Harmadik szint</a:t>
            </a:r>
          </a:p>
          <a:p>
            <a:pPr lvl="3"/>
            <a:r>
              <a:rPr lang="hu-HU"/>
              <a:t>Negyedik szint</a:t>
            </a:r>
          </a:p>
          <a:p>
            <a:pPr lvl="4"/>
            <a:r>
              <a:rPr lang="hu-HU"/>
              <a:t>Ötödik szint</a:t>
            </a:r>
            <a:endParaRPr lang="en-US" dirty="0"/>
          </a:p>
        </p:txBody>
      </p:sp>
      <p:sp>
        <p:nvSpPr>
          <p:cNvPr id="4" name="Date Placeholder 3"/>
          <p:cNvSpPr>
            <a:spLocks noGrp="1"/>
          </p:cNvSpPr>
          <p:nvPr>
            <p:ph type="dt" sz="half" idx="2"/>
          </p:nvPr>
        </p:nvSpPr>
        <p:spPr>
          <a:xfrm rot="5400000">
            <a:off x="-810065" y="5270604"/>
            <a:ext cx="2662729" cy="182880"/>
          </a:xfrm>
          <a:prstGeom prst="rect">
            <a:avLst/>
          </a:prstGeom>
        </p:spPr>
        <p:txBody>
          <a:bodyPr vert="horz" lIns="91440" tIns="18288" rIns="91440" bIns="45720" rtlCol="0" anchor="t"/>
          <a:lstStyle>
            <a:lvl1pPr algn="r">
              <a:defRPr sz="800">
                <a:solidFill>
                  <a:schemeClr val="tx1">
                    <a:tint val="75000"/>
                  </a:schemeClr>
                </a:solidFill>
                <a:latin typeface="+mn-lt"/>
              </a:defRPr>
            </a:lvl1pPr>
          </a:lstStyle>
          <a:p>
            <a:fld id="{3CBC1C18-307B-4F68-A007-B5B542270E8D}" type="datetimeFigureOut">
              <a:rPr lang="en-US" dirty="0"/>
              <a:t>4/27/2026</a:t>
            </a:fld>
            <a:endParaRPr lang="en-US" dirty="0"/>
          </a:p>
        </p:txBody>
      </p:sp>
      <p:sp>
        <p:nvSpPr>
          <p:cNvPr id="5" name="Footer Placeholder 4"/>
          <p:cNvSpPr>
            <a:spLocks noGrp="1"/>
          </p:cNvSpPr>
          <p:nvPr>
            <p:ph type="ftr" sz="quarter" idx="3"/>
          </p:nvPr>
        </p:nvSpPr>
        <p:spPr>
          <a:xfrm rot="5400000">
            <a:off x="-2237130" y="3661144"/>
            <a:ext cx="5885352" cy="179176"/>
          </a:xfrm>
          <a:prstGeom prst="rect">
            <a:avLst/>
          </a:prstGeom>
        </p:spPr>
        <p:txBody>
          <a:bodyPr vert="horz" lIns="91440" tIns="45720" rIns="91440" bIns="18288" rtlCol="0" anchor="b"/>
          <a:lstStyle>
            <a:lvl1pPr algn="r">
              <a:defRPr sz="800">
                <a:solidFill>
                  <a:schemeClr val="tx1">
                    <a:tint val="75000"/>
                  </a:schemeClr>
                </a:solidFill>
              </a:defRPr>
            </a:lvl1pPr>
          </a:lstStyle>
          <a:p>
            <a:r>
              <a:rPr lang="en-US" dirty="0"/>
              <a:t>
              </a:t>
            </a:r>
          </a:p>
        </p:txBody>
      </p:sp>
      <p:sp>
        <p:nvSpPr>
          <p:cNvPr id="6" name="Slide Number Placeholder 5"/>
          <p:cNvSpPr>
            <a:spLocks noGrp="1"/>
          </p:cNvSpPr>
          <p:nvPr>
            <p:ph type="sldNum" sz="quarter" idx="4"/>
          </p:nvPr>
        </p:nvSpPr>
        <p:spPr>
          <a:xfrm>
            <a:off x="158407" y="164592"/>
            <a:ext cx="636727" cy="322851"/>
          </a:xfrm>
          <a:prstGeom prst="rect">
            <a:avLst/>
          </a:prstGeom>
        </p:spPr>
        <p:txBody>
          <a:bodyPr vert="horz" lIns="91440" tIns="45720" rIns="45720" bIns="45720" rtlCol="0" anchor="ctr"/>
          <a:lstStyle>
            <a:lvl1pPr algn="r">
              <a:defRPr sz="1800">
                <a:solidFill>
                  <a:schemeClr val="tx1">
                    <a:tint val="75000"/>
                  </a:schemeClr>
                </a:solidFill>
              </a:defRPr>
            </a:lvl1pPr>
          </a:lstStyle>
          <a:p>
            <a:fld id="{6D22F896-40B5-4ADD-8801-0D06FADFA095}" type="slidenum">
              <a:rPr lang="en-US" dirty="0"/>
              <a:pPr/>
              <a:t>‹#›</a:t>
            </a:fld>
            <a:endParaRPr lang="en-US" dirty="0"/>
          </a:p>
        </p:txBody>
      </p:sp>
      <p:sp>
        <p:nvSpPr>
          <p:cNvPr id="57" name="Rectangle 56"/>
          <p:cNvSpPr/>
          <p:nvPr/>
        </p:nvSpPr>
        <p:spPr>
          <a:xfrm>
            <a:off x="962042" y="0"/>
            <a:ext cx="45719" cy="6858000"/>
          </a:xfrm>
          <a:prstGeom prst="rect">
            <a:avLst/>
          </a:pr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sp>
    </p:spTree>
  </p:cSld>
  <p:clrMap bg1="dk1" tx1="lt1" bg2="dk2" tx2="lt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sldNum="0" hdr="0" ftr="0" dt="0"/>
  <p:txStyles>
    <p:titleStyle>
      <a:lvl1pPr algn="r" defTabSz="914400" rtl="0" eaLnBrk="1" latinLnBrk="0" hangingPunct="1">
        <a:lnSpc>
          <a:spcPct val="90000"/>
        </a:lnSpc>
        <a:spcBef>
          <a:spcPct val="0"/>
        </a:spcBef>
        <a:buNone/>
        <a:defRPr sz="3400" b="0" i="0" kern="1200" cap="none">
          <a:solidFill>
            <a:schemeClr val="tx1"/>
          </a:solidFill>
          <a:effectLst/>
          <a:latin typeface="+mj-lt"/>
          <a:ea typeface="+mj-ea"/>
          <a:cs typeface="+mj-cs"/>
        </a:defRPr>
      </a:lvl1pPr>
    </p:titleStyle>
    <p:bodyStyle>
      <a:lvl1pPr marL="344488" indent="-344488" algn="l" defTabSz="914400" rtl="0" eaLnBrk="1" latinLnBrk="0" hangingPunct="1">
        <a:lnSpc>
          <a:spcPct val="120000"/>
        </a:lnSpc>
        <a:spcBef>
          <a:spcPts val="1000"/>
        </a:spcBef>
        <a:spcAft>
          <a:spcPts val="600"/>
        </a:spcAft>
        <a:buClr>
          <a:schemeClr val="accent6"/>
        </a:buClr>
        <a:buSzPct val="90000"/>
        <a:buFont typeface="Wingdings" panose="05000000000000000000" pitchFamily="2" charset="2"/>
        <a:buChar char="§"/>
        <a:defRPr sz="2000" kern="1200">
          <a:solidFill>
            <a:schemeClr val="tx1"/>
          </a:solidFill>
          <a:effectLst/>
          <a:latin typeface="+mn-lt"/>
          <a:ea typeface="+mn-ea"/>
          <a:cs typeface="+mn-cs"/>
        </a:defRPr>
      </a:lvl1pPr>
      <a:lvl2pPr marL="795338" indent="-338138" algn="l" defTabSz="914400" rtl="0" eaLnBrk="1" latinLnBrk="0" hangingPunct="1">
        <a:lnSpc>
          <a:spcPct val="120000"/>
        </a:lnSpc>
        <a:spcBef>
          <a:spcPts val="500"/>
        </a:spcBef>
        <a:spcAft>
          <a:spcPts val="600"/>
        </a:spcAft>
        <a:buClr>
          <a:schemeClr val="accent6"/>
        </a:buClr>
        <a:buSzPct val="90000"/>
        <a:buFont typeface="Wingdings" panose="05000000000000000000" pitchFamily="2" charset="2"/>
        <a:buChar char="§"/>
        <a:defRPr sz="1800" kern="1200">
          <a:solidFill>
            <a:schemeClr val="tx1"/>
          </a:solidFill>
          <a:effectLst/>
          <a:latin typeface="+mn-lt"/>
          <a:ea typeface="+mn-ea"/>
          <a:cs typeface="+mn-cs"/>
        </a:defRPr>
      </a:lvl2pPr>
      <a:lvl3pPr marL="1258888" indent="-344488" algn="l" defTabSz="914400" rtl="0" eaLnBrk="1" latinLnBrk="0" hangingPunct="1">
        <a:lnSpc>
          <a:spcPct val="120000"/>
        </a:lnSpc>
        <a:spcBef>
          <a:spcPts val="500"/>
        </a:spcBef>
        <a:spcAft>
          <a:spcPts val="600"/>
        </a:spcAft>
        <a:buClr>
          <a:schemeClr val="accent6"/>
        </a:buClr>
        <a:buSzPct val="90000"/>
        <a:buFont typeface="Wingdings" panose="05000000000000000000" pitchFamily="2" charset="2"/>
        <a:buChar char="§"/>
        <a:defRPr sz="1600" kern="1200">
          <a:solidFill>
            <a:schemeClr val="tx1"/>
          </a:solidFill>
          <a:effectLst/>
          <a:latin typeface="+mn-lt"/>
          <a:ea typeface="+mn-ea"/>
          <a:cs typeface="+mn-cs"/>
        </a:defRPr>
      </a:lvl3pPr>
      <a:lvl4pPr marL="1709738" indent="-338138" algn="l" defTabSz="914400" rtl="0" eaLnBrk="1" latinLnBrk="0" hangingPunct="1">
        <a:lnSpc>
          <a:spcPct val="120000"/>
        </a:lnSpc>
        <a:spcBef>
          <a:spcPts val="500"/>
        </a:spcBef>
        <a:spcAft>
          <a:spcPts val="600"/>
        </a:spcAft>
        <a:buClr>
          <a:schemeClr val="accent6"/>
        </a:buClr>
        <a:buSzPct val="90000"/>
        <a:buFont typeface="Wingdings" panose="05000000000000000000" pitchFamily="2" charset="2"/>
        <a:buChar char="§"/>
        <a:defRPr sz="1400" kern="1200">
          <a:solidFill>
            <a:schemeClr val="tx1"/>
          </a:solidFill>
          <a:effectLst/>
          <a:latin typeface="+mn-lt"/>
          <a:ea typeface="+mn-ea"/>
          <a:cs typeface="+mn-cs"/>
        </a:defRPr>
      </a:lvl4pPr>
      <a:lvl5pPr marL="2173288" indent="-344488" algn="l" defTabSz="914400" rtl="0" eaLnBrk="1" latinLnBrk="0" hangingPunct="1">
        <a:lnSpc>
          <a:spcPct val="120000"/>
        </a:lnSpc>
        <a:spcBef>
          <a:spcPts val="500"/>
        </a:spcBef>
        <a:spcAft>
          <a:spcPts val="600"/>
        </a:spcAft>
        <a:buClr>
          <a:schemeClr val="accent6"/>
        </a:buClr>
        <a:buSzPct val="90000"/>
        <a:buFont typeface="Wingdings" panose="05000000000000000000" pitchFamily="2" charset="2"/>
        <a:buChar char="§"/>
        <a:defRPr sz="1200" kern="1200">
          <a:solidFill>
            <a:schemeClr val="tx1"/>
          </a:solidFill>
          <a:effectLst/>
          <a:latin typeface="+mn-lt"/>
          <a:ea typeface="+mn-ea"/>
          <a:cs typeface="+mn-cs"/>
        </a:defRPr>
      </a:lvl5pPr>
      <a:lvl6pPr marL="2642616" indent="-338328" algn="l" defTabSz="914400" rtl="0" eaLnBrk="1" latinLnBrk="0" hangingPunct="1">
        <a:lnSpc>
          <a:spcPct val="120000"/>
        </a:lnSpc>
        <a:spcBef>
          <a:spcPts val="500"/>
        </a:spcBef>
        <a:spcAft>
          <a:spcPts val="600"/>
        </a:spcAft>
        <a:buClr>
          <a:schemeClr val="accent6"/>
        </a:buClr>
        <a:buSzPct val="90000"/>
        <a:buFont typeface="Wingdings" panose="05000000000000000000" pitchFamily="2" charset="2"/>
        <a:buChar char="§"/>
        <a:defRPr sz="1200" kern="1200" baseline="0">
          <a:solidFill>
            <a:schemeClr val="tx1"/>
          </a:solidFill>
          <a:effectLst/>
          <a:latin typeface="+mn-lt"/>
          <a:ea typeface="+mn-ea"/>
          <a:cs typeface="+mn-cs"/>
        </a:defRPr>
      </a:lvl6pPr>
      <a:lvl7pPr marL="3108960" indent="-338328" algn="l" defTabSz="914400" rtl="0" eaLnBrk="1" latinLnBrk="0" hangingPunct="1">
        <a:lnSpc>
          <a:spcPct val="120000"/>
        </a:lnSpc>
        <a:spcBef>
          <a:spcPts val="500"/>
        </a:spcBef>
        <a:spcAft>
          <a:spcPts val="600"/>
        </a:spcAft>
        <a:buClr>
          <a:schemeClr val="accent6"/>
        </a:buClr>
        <a:buSzPct val="90000"/>
        <a:buFont typeface="Wingdings" panose="05000000000000000000" pitchFamily="2" charset="2"/>
        <a:buChar char="§"/>
        <a:defRPr sz="1200" kern="1200" baseline="0">
          <a:solidFill>
            <a:schemeClr val="tx1"/>
          </a:solidFill>
          <a:effectLst/>
          <a:latin typeface="+mn-lt"/>
          <a:ea typeface="+mn-ea"/>
          <a:cs typeface="+mn-cs"/>
        </a:defRPr>
      </a:lvl7pPr>
      <a:lvl8pPr marL="3575304" indent="-338328" algn="l" defTabSz="914400" rtl="0" eaLnBrk="1" latinLnBrk="0" hangingPunct="1">
        <a:lnSpc>
          <a:spcPct val="120000"/>
        </a:lnSpc>
        <a:spcBef>
          <a:spcPts val="500"/>
        </a:spcBef>
        <a:spcAft>
          <a:spcPts val="600"/>
        </a:spcAft>
        <a:buClr>
          <a:schemeClr val="accent6"/>
        </a:buClr>
        <a:buSzPct val="90000"/>
        <a:buFont typeface="Wingdings" panose="05000000000000000000" pitchFamily="2" charset="2"/>
        <a:buChar char="§"/>
        <a:defRPr sz="1200" kern="1200" baseline="0">
          <a:solidFill>
            <a:schemeClr val="tx1"/>
          </a:solidFill>
          <a:effectLst/>
          <a:latin typeface="+mn-lt"/>
          <a:ea typeface="+mn-ea"/>
          <a:cs typeface="+mn-cs"/>
        </a:defRPr>
      </a:lvl8pPr>
      <a:lvl9pPr marL="4041648" indent="-338328" algn="l" defTabSz="914400" rtl="0" eaLnBrk="1" latinLnBrk="0" hangingPunct="1">
        <a:lnSpc>
          <a:spcPct val="120000"/>
        </a:lnSpc>
        <a:spcBef>
          <a:spcPts val="500"/>
        </a:spcBef>
        <a:spcAft>
          <a:spcPts val="600"/>
        </a:spcAft>
        <a:buClr>
          <a:schemeClr val="accent6"/>
        </a:buClr>
        <a:buSzPct val="90000"/>
        <a:buFont typeface="Wingdings" panose="05000000000000000000" pitchFamily="2" charset="2"/>
        <a:buChar char="§"/>
        <a:defRPr sz="1200" kern="1200" baseline="0">
          <a:solidFill>
            <a:schemeClr val="tx1"/>
          </a:solidFill>
          <a:effectLst/>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ím 1">
            <a:extLst>
              <a:ext uri="{FF2B5EF4-FFF2-40B4-BE49-F238E27FC236}">
                <a16:creationId xmlns:a16="http://schemas.microsoft.com/office/drawing/2014/main" id="{8ABFE829-343F-6A8F-B2FD-645375AED1A2}"/>
              </a:ext>
            </a:extLst>
          </p:cNvPr>
          <p:cNvSpPr>
            <a:spLocks noGrp="1"/>
          </p:cNvSpPr>
          <p:nvPr>
            <p:ph type="ctrTitle"/>
          </p:nvPr>
        </p:nvSpPr>
        <p:spPr>
          <a:xfrm>
            <a:off x="3020948" y="351735"/>
            <a:ext cx="5518066" cy="2268559"/>
          </a:xfrm>
        </p:spPr>
        <p:txBody>
          <a:bodyPr>
            <a:normAutofit/>
          </a:bodyPr>
          <a:lstStyle/>
          <a:p>
            <a:r>
              <a:rPr lang="hu-HU" dirty="0" err="1"/>
              <a:t>KertKérdés</a:t>
            </a:r>
            <a:r>
              <a:rPr lang="hu-HU" dirty="0"/>
              <a:t> projekt</a:t>
            </a:r>
          </a:p>
        </p:txBody>
      </p:sp>
      <p:sp>
        <p:nvSpPr>
          <p:cNvPr id="3" name="Alcím 2">
            <a:extLst>
              <a:ext uri="{FF2B5EF4-FFF2-40B4-BE49-F238E27FC236}">
                <a16:creationId xmlns:a16="http://schemas.microsoft.com/office/drawing/2014/main" id="{A2B80E96-1C08-A8B9-9C35-1910515BFD3F}"/>
              </a:ext>
            </a:extLst>
          </p:cNvPr>
          <p:cNvSpPr>
            <a:spLocks noGrp="1"/>
          </p:cNvSpPr>
          <p:nvPr>
            <p:ph type="subTitle" idx="1"/>
          </p:nvPr>
        </p:nvSpPr>
        <p:spPr>
          <a:xfrm>
            <a:off x="3181414" y="1317231"/>
            <a:ext cx="5357600" cy="1160213"/>
          </a:xfrm>
        </p:spPr>
        <p:txBody>
          <a:bodyPr/>
          <a:lstStyle/>
          <a:p>
            <a:r>
              <a:rPr lang="hu-HU" dirty="0"/>
              <a:t>Kérdés-válasz közösségi platform</a:t>
            </a:r>
          </a:p>
        </p:txBody>
      </p:sp>
      <p:sp>
        <p:nvSpPr>
          <p:cNvPr id="4" name="Alcím 2">
            <a:extLst>
              <a:ext uri="{FF2B5EF4-FFF2-40B4-BE49-F238E27FC236}">
                <a16:creationId xmlns:a16="http://schemas.microsoft.com/office/drawing/2014/main" id="{107D59F1-298A-7857-2D95-3B42157AFA3C}"/>
              </a:ext>
            </a:extLst>
          </p:cNvPr>
          <p:cNvSpPr txBox="1">
            <a:spLocks/>
          </p:cNvSpPr>
          <p:nvPr/>
        </p:nvSpPr>
        <p:spPr>
          <a:xfrm>
            <a:off x="5860214" y="2956225"/>
            <a:ext cx="2722664" cy="3338522"/>
          </a:xfrm>
          <a:prstGeom prst="rect">
            <a:avLst/>
          </a:prstGeom>
        </p:spPr>
        <p:txBody>
          <a:bodyPr vert="horz" lIns="91440" tIns="0" rIns="91440" bIns="45720" rtlCol="0" anchor="b">
            <a:normAutofit/>
          </a:bodyPr>
          <a:lstStyle>
            <a:lvl1pPr marL="0" indent="0" algn="r" defTabSz="914400" rtl="0" eaLnBrk="1" latinLnBrk="0" hangingPunct="1">
              <a:lnSpc>
                <a:spcPct val="120000"/>
              </a:lnSpc>
              <a:spcBef>
                <a:spcPts val="1000"/>
              </a:spcBef>
              <a:spcAft>
                <a:spcPts val="600"/>
              </a:spcAft>
              <a:buClr>
                <a:schemeClr val="accent6"/>
              </a:buClr>
              <a:buSzPct val="90000"/>
              <a:buFont typeface="Wingdings" panose="05000000000000000000" pitchFamily="2" charset="2"/>
              <a:buNone/>
              <a:defRPr sz="1800" b="0" kern="1200">
                <a:solidFill>
                  <a:schemeClr val="tx1"/>
                </a:solidFill>
                <a:effectLst/>
                <a:latin typeface="+mn-lt"/>
                <a:ea typeface="+mn-ea"/>
                <a:cs typeface="+mn-cs"/>
              </a:defRPr>
            </a:lvl1pPr>
            <a:lvl2pPr marL="457200" indent="0" algn="ctr" defTabSz="914400" rtl="0" eaLnBrk="1" latinLnBrk="0" hangingPunct="1">
              <a:lnSpc>
                <a:spcPct val="120000"/>
              </a:lnSpc>
              <a:spcBef>
                <a:spcPts val="500"/>
              </a:spcBef>
              <a:spcAft>
                <a:spcPts val="600"/>
              </a:spcAft>
              <a:buClr>
                <a:schemeClr val="accent6"/>
              </a:buClr>
              <a:buSzPct val="90000"/>
              <a:buFont typeface="Wingdings" panose="05000000000000000000" pitchFamily="2" charset="2"/>
              <a:buNone/>
              <a:defRPr sz="1800" kern="1200">
                <a:solidFill>
                  <a:schemeClr val="tx1"/>
                </a:solidFill>
                <a:effectLst/>
                <a:latin typeface="+mn-lt"/>
                <a:ea typeface="+mn-ea"/>
                <a:cs typeface="+mn-cs"/>
              </a:defRPr>
            </a:lvl2pPr>
            <a:lvl3pPr marL="914400" indent="0" algn="ctr" defTabSz="914400" rtl="0" eaLnBrk="1" latinLnBrk="0" hangingPunct="1">
              <a:lnSpc>
                <a:spcPct val="120000"/>
              </a:lnSpc>
              <a:spcBef>
                <a:spcPts val="500"/>
              </a:spcBef>
              <a:spcAft>
                <a:spcPts val="600"/>
              </a:spcAft>
              <a:buClr>
                <a:schemeClr val="accent6"/>
              </a:buClr>
              <a:buSzPct val="90000"/>
              <a:buFont typeface="Wingdings" panose="05000000000000000000" pitchFamily="2" charset="2"/>
              <a:buNone/>
              <a:defRPr sz="1800" kern="1200">
                <a:solidFill>
                  <a:schemeClr val="tx1"/>
                </a:solidFill>
                <a:effectLst/>
                <a:latin typeface="+mn-lt"/>
                <a:ea typeface="+mn-ea"/>
                <a:cs typeface="+mn-cs"/>
              </a:defRPr>
            </a:lvl3pPr>
            <a:lvl4pPr marL="1371600" indent="0" algn="ctr" defTabSz="914400" rtl="0" eaLnBrk="1" latinLnBrk="0" hangingPunct="1">
              <a:lnSpc>
                <a:spcPct val="120000"/>
              </a:lnSpc>
              <a:spcBef>
                <a:spcPts val="500"/>
              </a:spcBef>
              <a:spcAft>
                <a:spcPts val="600"/>
              </a:spcAft>
              <a:buClr>
                <a:schemeClr val="accent6"/>
              </a:buClr>
              <a:buSzPct val="90000"/>
              <a:buFont typeface="Wingdings" panose="05000000000000000000" pitchFamily="2" charset="2"/>
              <a:buNone/>
              <a:defRPr sz="1600" kern="1200">
                <a:solidFill>
                  <a:schemeClr val="tx1"/>
                </a:solidFill>
                <a:effectLst/>
                <a:latin typeface="+mn-lt"/>
                <a:ea typeface="+mn-ea"/>
                <a:cs typeface="+mn-cs"/>
              </a:defRPr>
            </a:lvl4pPr>
            <a:lvl5pPr marL="1828800" indent="0" algn="ctr" defTabSz="914400" rtl="0" eaLnBrk="1" latinLnBrk="0" hangingPunct="1">
              <a:lnSpc>
                <a:spcPct val="120000"/>
              </a:lnSpc>
              <a:spcBef>
                <a:spcPts val="500"/>
              </a:spcBef>
              <a:spcAft>
                <a:spcPts val="600"/>
              </a:spcAft>
              <a:buClr>
                <a:schemeClr val="accent6"/>
              </a:buClr>
              <a:buSzPct val="90000"/>
              <a:buFont typeface="Wingdings" panose="05000000000000000000" pitchFamily="2" charset="2"/>
              <a:buNone/>
              <a:defRPr sz="1600" kern="1200">
                <a:solidFill>
                  <a:schemeClr val="tx1"/>
                </a:solidFill>
                <a:effectLst/>
                <a:latin typeface="+mn-lt"/>
                <a:ea typeface="+mn-ea"/>
                <a:cs typeface="+mn-cs"/>
              </a:defRPr>
            </a:lvl5pPr>
            <a:lvl6pPr marL="2286000" indent="0" algn="ctr" defTabSz="914400" rtl="0" eaLnBrk="1" latinLnBrk="0" hangingPunct="1">
              <a:lnSpc>
                <a:spcPct val="120000"/>
              </a:lnSpc>
              <a:spcBef>
                <a:spcPts val="500"/>
              </a:spcBef>
              <a:spcAft>
                <a:spcPts val="600"/>
              </a:spcAft>
              <a:buClr>
                <a:schemeClr val="accent6"/>
              </a:buClr>
              <a:buSzPct val="90000"/>
              <a:buFont typeface="Wingdings" panose="05000000000000000000" pitchFamily="2" charset="2"/>
              <a:buNone/>
              <a:defRPr sz="1600" kern="1200" baseline="0">
                <a:solidFill>
                  <a:schemeClr val="tx1"/>
                </a:solidFill>
                <a:effectLst/>
                <a:latin typeface="+mn-lt"/>
                <a:ea typeface="+mn-ea"/>
                <a:cs typeface="+mn-cs"/>
              </a:defRPr>
            </a:lvl6pPr>
            <a:lvl7pPr marL="2743200" indent="0" algn="ctr" defTabSz="914400" rtl="0" eaLnBrk="1" latinLnBrk="0" hangingPunct="1">
              <a:lnSpc>
                <a:spcPct val="120000"/>
              </a:lnSpc>
              <a:spcBef>
                <a:spcPts val="500"/>
              </a:spcBef>
              <a:spcAft>
                <a:spcPts val="600"/>
              </a:spcAft>
              <a:buClr>
                <a:schemeClr val="accent6"/>
              </a:buClr>
              <a:buSzPct val="90000"/>
              <a:buFont typeface="Wingdings" panose="05000000000000000000" pitchFamily="2" charset="2"/>
              <a:buNone/>
              <a:defRPr sz="1600" kern="1200" baseline="0">
                <a:solidFill>
                  <a:schemeClr val="tx1"/>
                </a:solidFill>
                <a:effectLst/>
                <a:latin typeface="+mn-lt"/>
                <a:ea typeface="+mn-ea"/>
                <a:cs typeface="+mn-cs"/>
              </a:defRPr>
            </a:lvl7pPr>
            <a:lvl8pPr marL="3200400" indent="0" algn="ctr" defTabSz="914400" rtl="0" eaLnBrk="1" latinLnBrk="0" hangingPunct="1">
              <a:lnSpc>
                <a:spcPct val="120000"/>
              </a:lnSpc>
              <a:spcBef>
                <a:spcPts val="500"/>
              </a:spcBef>
              <a:spcAft>
                <a:spcPts val="600"/>
              </a:spcAft>
              <a:buClr>
                <a:schemeClr val="accent6"/>
              </a:buClr>
              <a:buSzPct val="90000"/>
              <a:buFont typeface="Wingdings" panose="05000000000000000000" pitchFamily="2" charset="2"/>
              <a:buNone/>
              <a:defRPr sz="1600" kern="1200" baseline="0">
                <a:solidFill>
                  <a:schemeClr val="tx1"/>
                </a:solidFill>
                <a:effectLst/>
                <a:latin typeface="+mn-lt"/>
                <a:ea typeface="+mn-ea"/>
                <a:cs typeface="+mn-cs"/>
              </a:defRPr>
            </a:lvl8pPr>
            <a:lvl9pPr marL="3657600" indent="0" algn="ctr" defTabSz="914400" rtl="0" eaLnBrk="1" latinLnBrk="0" hangingPunct="1">
              <a:lnSpc>
                <a:spcPct val="120000"/>
              </a:lnSpc>
              <a:spcBef>
                <a:spcPts val="500"/>
              </a:spcBef>
              <a:spcAft>
                <a:spcPts val="600"/>
              </a:spcAft>
              <a:buClr>
                <a:schemeClr val="accent6"/>
              </a:buClr>
              <a:buSzPct val="90000"/>
              <a:buFont typeface="Wingdings" panose="05000000000000000000" pitchFamily="2" charset="2"/>
              <a:buNone/>
              <a:defRPr sz="1600" kern="1200" baseline="0">
                <a:solidFill>
                  <a:schemeClr val="tx1"/>
                </a:solidFill>
                <a:effectLst/>
                <a:latin typeface="+mn-lt"/>
                <a:ea typeface="+mn-ea"/>
                <a:cs typeface="+mn-cs"/>
              </a:defRPr>
            </a:lvl9pPr>
          </a:lstStyle>
          <a:p>
            <a:r>
              <a:rPr lang="hu-HU" b="1" dirty="0"/>
              <a:t>Készítette:</a:t>
            </a:r>
          </a:p>
          <a:p>
            <a:r>
              <a:rPr lang="hu-HU" sz="1600" dirty="0"/>
              <a:t>Deák Laura</a:t>
            </a:r>
          </a:p>
          <a:p>
            <a:r>
              <a:rPr lang="hu-HU" sz="1600" dirty="0" err="1"/>
              <a:t>Hadházy</a:t>
            </a:r>
            <a:r>
              <a:rPr lang="hu-HU" sz="1600" dirty="0"/>
              <a:t> Nikolett</a:t>
            </a:r>
          </a:p>
          <a:p>
            <a:r>
              <a:rPr lang="hu-HU" sz="1600" dirty="0"/>
              <a:t>Kerekes Judit</a:t>
            </a:r>
          </a:p>
        </p:txBody>
      </p:sp>
      <p:pic>
        <p:nvPicPr>
          <p:cNvPr id="8" name="Kép 7">
            <a:extLst>
              <a:ext uri="{FF2B5EF4-FFF2-40B4-BE49-F238E27FC236}">
                <a16:creationId xmlns:a16="http://schemas.microsoft.com/office/drawing/2014/main" id="{6F9782F3-61E0-0ADF-81F1-DDD40A971AF1}"/>
              </a:ext>
            </a:extLst>
          </p:cNvPr>
          <p:cNvPicPr>
            <a:picLocks noChangeAspect="1"/>
          </p:cNvPicPr>
          <p:nvPr/>
        </p:nvPicPr>
        <p:blipFill>
          <a:blip r:embed="rId3"/>
          <a:stretch>
            <a:fillRect/>
          </a:stretch>
        </p:blipFill>
        <p:spPr>
          <a:xfrm>
            <a:off x="962222" y="2829179"/>
            <a:ext cx="6043230" cy="4028821"/>
          </a:xfrm>
          <a:prstGeom prst="rect">
            <a:avLst/>
          </a:prstGeom>
        </p:spPr>
      </p:pic>
    </p:spTree>
    <p:extLst>
      <p:ext uri="{BB962C8B-B14F-4D97-AF65-F5344CB8AC3E}">
        <p14:creationId xmlns:p14="http://schemas.microsoft.com/office/powerpoint/2010/main" val="2190318431"/>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ím 1">
            <a:extLst>
              <a:ext uri="{FF2B5EF4-FFF2-40B4-BE49-F238E27FC236}">
                <a16:creationId xmlns:a16="http://schemas.microsoft.com/office/drawing/2014/main" id="{5E72D150-1367-EEFE-05B4-682E37C97ED5}"/>
              </a:ext>
            </a:extLst>
          </p:cNvPr>
          <p:cNvSpPr>
            <a:spLocks noGrp="1"/>
          </p:cNvSpPr>
          <p:nvPr>
            <p:ph type="title"/>
          </p:nvPr>
        </p:nvSpPr>
        <p:spPr>
          <a:xfrm>
            <a:off x="2729417" y="446971"/>
            <a:ext cx="7958331" cy="1077229"/>
          </a:xfrm>
        </p:spPr>
        <p:txBody>
          <a:bodyPr/>
          <a:lstStyle/>
          <a:p>
            <a:r>
              <a:rPr lang="hu-HU" sz="4400" dirty="0"/>
              <a:t>Bevezetés</a:t>
            </a:r>
            <a:endParaRPr lang="hu-HU" dirty="0"/>
          </a:p>
        </p:txBody>
      </p:sp>
      <p:sp>
        <p:nvSpPr>
          <p:cNvPr id="3" name="Tartalom helye 2">
            <a:extLst>
              <a:ext uri="{FF2B5EF4-FFF2-40B4-BE49-F238E27FC236}">
                <a16:creationId xmlns:a16="http://schemas.microsoft.com/office/drawing/2014/main" id="{0B031A69-601B-F687-F4BB-5526B084BE5F}"/>
              </a:ext>
            </a:extLst>
          </p:cNvPr>
          <p:cNvSpPr>
            <a:spLocks noGrp="1"/>
          </p:cNvSpPr>
          <p:nvPr>
            <p:ph idx="1"/>
          </p:nvPr>
        </p:nvSpPr>
        <p:spPr>
          <a:xfrm>
            <a:off x="1963834" y="2019300"/>
            <a:ext cx="8264332" cy="5296100"/>
          </a:xfrm>
        </p:spPr>
        <p:txBody>
          <a:bodyPr>
            <a:normAutofit/>
          </a:bodyPr>
          <a:lstStyle/>
          <a:p>
            <a:pPr marL="0" indent="0">
              <a:buNone/>
            </a:pPr>
            <a:r>
              <a:rPr lang="hu-HU" sz="2400" dirty="0"/>
              <a:t>A projekt célközönsége elsősorban:</a:t>
            </a:r>
          </a:p>
          <a:p>
            <a:pPr lvl="0"/>
            <a:r>
              <a:rPr lang="hu-HU" sz="2400" dirty="0"/>
              <a:t>hobbi kertészek, </a:t>
            </a:r>
          </a:p>
          <a:p>
            <a:pPr lvl="0"/>
            <a:r>
              <a:rPr lang="hu-HU" sz="2400" dirty="0"/>
              <a:t>kezdő növénytartók, </a:t>
            </a:r>
          </a:p>
          <a:p>
            <a:pPr lvl="0"/>
            <a:r>
              <a:rPr lang="hu-HU" sz="2400" dirty="0"/>
              <a:t>házikerti termelők, </a:t>
            </a:r>
          </a:p>
          <a:p>
            <a:pPr lvl="0"/>
            <a:r>
              <a:rPr lang="hu-HU" sz="2400" dirty="0"/>
              <a:t>illetve minden olyan felhasználó, aki gyors, gyakorlatias segítséget szeretne kapni. </a:t>
            </a:r>
          </a:p>
          <a:p>
            <a:pPr marL="0" indent="0">
              <a:buNone/>
            </a:pPr>
            <a:r>
              <a:rPr lang="hu-HU" sz="2400" dirty="0"/>
              <a:t>A témaválasztás mellett szólt az is, hogy a kertészkedés napjainkban egyre népszerűbb, különösen az otthoni önellátás és fenntarthatóság előtérbe kerülése miatt.</a:t>
            </a:r>
          </a:p>
          <a:p>
            <a:pPr marL="0" lvl="0" indent="0">
              <a:buNone/>
            </a:pPr>
            <a:endParaRPr lang="hu-HU" dirty="0"/>
          </a:p>
          <a:p>
            <a:endParaRPr lang="hu-HU" dirty="0"/>
          </a:p>
          <a:p>
            <a:endParaRPr lang="hu-HU" dirty="0"/>
          </a:p>
        </p:txBody>
      </p:sp>
    </p:spTree>
    <p:extLst>
      <p:ext uri="{BB962C8B-B14F-4D97-AF65-F5344CB8AC3E}">
        <p14:creationId xmlns:p14="http://schemas.microsoft.com/office/powerpoint/2010/main" val="2907692567"/>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ím 1">
            <a:extLst>
              <a:ext uri="{FF2B5EF4-FFF2-40B4-BE49-F238E27FC236}">
                <a16:creationId xmlns:a16="http://schemas.microsoft.com/office/drawing/2014/main" id="{579EED2C-E076-05C0-45E7-C0666F95BBC6}"/>
              </a:ext>
            </a:extLst>
          </p:cNvPr>
          <p:cNvSpPr>
            <a:spLocks noGrp="1"/>
          </p:cNvSpPr>
          <p:nvPr>
            <p:ph type="title"/>
          </p:nvPr>
        </p:nvSpPr>
        <p:spPr>
          <a:xfrm>
            <a:off x="2768610" y="295121"/>
            <a:ext cx="7958331" cy="1077229"/>
          </a:xfrm>
        </p:spPr>
        <p:txBody>
          <a:bodyPr/>
          <a:lstStyle/>
          <a:p>
            <a:r>
              <a:rPr lang="hu-HU" sz="4400" dirty="0"/>
              <a:t>Bevezetés</a:t>
            </a:r>
            <a:endParaRPr lang="hu-HU" dirty="0"/>
          </a:p>
        </p:txBody>
      </p:sp>
      <p:sp>
        <p:nvSpPr>
          <p:cNvPr id="3" name="Tartalom helye 2">
            <a:extLst>
              <a:ext uri="{FF2B5EF4-FFF2-40B4-BE49-F238E27FC236}">
                <a16:creationId xmlns:a16="http://schemas.microsoft.com/office/drawing/2014/main" id="{874F36D3-6D20-E085-89F7-D1E52A07AE20}"/>
              </a:ext>
            </a:extLst>
          </p:cNvPr>
          <p:cNvSpPr>
            <a:spLocks noGrp="1"/>
          </p:cNvSpPr>
          <p:nvPr>
            <p:ph idx="1"/>
          </p:nvPr>
        </p:nvSpPr>
        <p:spPr>
          <a:xfrm>
            <a:off x="1786771" y="895089"/>
            <a:ext cx="8940170" cy="5752029"/>
          </a:xfrm>
        </p:spPr>
        <p:txBody>
          <a:bodyPr>
            <a:normAutofit/>
          </a:bodyPr>
          <a:lstStyle/>
          <a:p>
            <a:pPr marL="0" indent="0">
              <a:buNone/>
            </a:pPr>
            <a:r>
              <a:rPr lang="hu-HU" sz="2400" dirty="0"/>
              <a:t>A fejlesztés során olyan rendszert terveztünk megvalósítani, amely:</a:t>
            </a:r>
          </a:p>
          <a:p>
            <a:pPr lvl="0">
              <a:lnSpc>
                <a:spcPct val="100000"/>
              </a:lnSpc>
            </a:pPr>
            <a:r>
              <a:rPr lang="hu-HU" sz="2400" dirty="0"/>
              <a:t>regisztrációt és belépést kezel, </a:t>
            </a:r>
          </a:p>
          <a:p>
            <a:pPr lvl="0">
              <a:lnSpc>
                <a:spcPct val="100000"/>
              </a:lnSpc>
            </a:pPr>
            <a:r>
              <a:rPr lang="hu-HU" sz="2400" dirty="0"/>
              <a:t>különböző jogosultsági szinteket támogat, </a:t>
            </a:r>
          </a:p>
          <a:p>
            <a:pPr lvl="0">
              <a:lnSpc>
                <a:spcPct val="100000"/>
              </a:lnSpc>
            </a:pPr>
            <a:r>
              <a:rPr lang="hu-HU" sz="2400" dirty="0"/>
              <a:t>kérdésfeltevést és válaszadást tesz lehetővé, valamint ezek szavazásra bocsátását</a:t>
            </a:r>
          </a:p>
          <a:p>
            <a:pPr lvl="0">
              <a:lnSpc>
                <a:spcPct val="100000"/>
              </a:lnSpc>
            </a:pPr>
            <a:r>
              <a:rPr lang="hu-HU" sz="2400" dirty="0"/>
              <a:t>címkézést használ a könnyebb kereshetőség érdekében, </a:t>
            </a:r>
          </a:p>
          <a:p>
            <a:pPr lvl="0">
              <a:lnSpc>
                <a:spcPct val="100000"/>
              </a:lnSpc>
            </a:pPr>
            <a:r>
              <a:rPr lang="hu-HU" sz="2400" dirty="0" err="1"/>
              <a:t>moderációs</a:t>
            </a:r>
            <a:r>
              <a:rPr lang="hu-HU" sz="2400" dirty="0"/>
              <a:t> funkciókat tartalmaz, </a:t>
            </a:r>
          </a:p>
          <a:p>
            <a:pPr lvl="0">
              <a:lnSpc>
                <a:spcPct val="100000"/>
              </a:lnSpc>
            </a:pPr>
            <a:r>
              <a:rPr lang="hu-HU" sz="2400" dirty="0"/>
              <a:t>szűrhető és kereshető adatbázist épít fel. </a:t>
            </a:r>
          </a:p>
        </p:txBody>
      </p:sp>
      <p:pic>
        <p:nvPicPr>
          <p:cNvPr id="5" name="Kép 4">
            <a:extLst>
              <a:ext uri="{FF2B5EF4-FFF2-40B4-BE49-F238E27FC236}">
                <a16:creationId xmlns:a16="http://schemas.microsoft.com/office/drawing/2014/main" id="{04029084-8045-816A-92CF-6966DC9C0F4A}"/>
              </a:ext>
            </a:extLst>
          </p:cNvPr>
          <p:cNvPicPr>
            <a:picLocks noChangeAspect="1"/>
          </p:cNvPicPr>
          <p:nvPr/>
        </p:nvPicPr>
        <p:blipFill>
          <a:blip r:embed="rId3"/>
          <a:stretch>
            <a:fillRect/>
          </a:stretch>
        </p:blipFill>
        <p:spPr>
          <a:xfrm>
            <a:off x="8600485" y="5002122"/>
            <a:ext cx="2417041" cy="1611361"/>
          </a:xfrm>
          <a:prstGeom prst="rect">
            <a:avLst/>
          </a:prstGeom>
        </p:spPr>
      </p:pic>
    </p:spTree>
    <p:extLst>
      <p:ext uri="{BB962C8B-B14F-4D97-AF65-F5344CB8AC3E}">
        <p14:creationId xmlns:p14="http://schemas.microsoft.com/office/powerpoint/2010/main" val="1206760275"/>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ím 1">
            <a:extLst>
              <a:ext uri="{FF2B5EF4-FFF2-40B4-BE49-F238E27FC236}">
                <a16:creationId xmlns:a16="http://schemas.microsoft.com/office/drawing/2014/main" id="{1A155369-4DB4-194B-A454-1DFF24B4D2BB}"/>
              </a:ext>
            </a:extLst>
          </p:cNvPr>
          <p:cNvSpPr>
            <a:spLocks noGrp="1"/>
          </p:cNvSpPr>
          <p:nvPr>
            <p:ph type="title"/>
          </p:nvPr>
        </p:nvSpPr>
        <p:spPr>
          <a:xfrm>
            <a:off x="2434827" y="473759"/>
            <a:ext cx="7958331" cy="1077229"/>
          </a:xfrm>
        </p:spPr>
        <p:txBody>
          <a:bodyPr/>
          <a:lstStyle/>
          <a:p>
            <a:r>
              <a:rPr lang="hu-HU" sz="4400" dirty="0"/>
              <a:t>Bevezetés</a:t>
            </a:r>
            <a:endParaRPr lang="hu-HU" dirty="0"/>
          </a:p>
        </p:txBody>
      </p:sp>
      <p:sp>
        <p:nvSpPr>
          <p:cNvPr id="3" name="Tartalom helye 2">
            <a:extLst>
              <a:ext uri="{FF2B5EF4-FFF2-40B4-BE49-F238E27FC236}">
                <a16:creationId xmlns:a16="http://schemas.microsoft.com/office/drawing/2014/main" id="{00674BB7-927C-38AB-2532-98CDE5A8FC59}"/>
              </a:ext>
            </a:extLst>
          </p:cNvPr>
          <p:cNvSpPr>
            <a:spLocks noGrp="1"/>
          </p:cNvSpPr>
          <p:nvPr>
            <p:ph idx="1"/>
          </p:nvPr>
        </p:nvSpPr>
        <p:spPr>
          <a:xfrm>
            <a:off x="1798842" y="1644076"/>
            <a:ext cx="9103484" cy="4832923"/>
          </a:xfrm>
        </p:spPr>
        <p:txBody>
          <a:bodyPr>
            <a:normAutofit fontScale="92500" lnSpcReduction="10000"/>
          </a:bodyPr>
          <a:lstStyle/>
          <a:p>
            <a:pPr marL="0" indent="0">
              <a:buNone/>
            </a:pPr>
            <a:r>
              <a:rPr lang="hu-HU" sz="2800" dirty="0"/>
              <a:t>A projekt egyik fontos célja volt az is, hogy valódi webalkalmazás-architektúrát alkalmazzunk, tehát külön kezeljük:</a:t>
            </a:r>
          </a:p>
          <a:p>
            <a:pPr lvl="0"/>
            <a:r>
              <a:rPr lang="hu-HU" sz="2800" dirty="0"/>
              <a:t>az adatbázist, </a:t>
            </a:r>
          </a:p>
          <a:p>
            <a:pPr lvl="0"/>
            <a:r>
              <a:rPr lang="hu-HU" sz="2800" dirty="0"/>
              <a:t>az üzleti logikát, </a:t>
            </a:r>
          </a:p>
          <a:p>
            <a:pPr lvl="0"/>
            <a:r>
              <a:rPr lang="hu-HU" sz="2800" dirty="0"/>
              <a:t>a felhasználói felületet. </a:t>
            </a:r>
          </a:p>
          <a:p>
            <a:pPr marL="0" indent="0">
              <a:buNone/>
            </a:pPr>
            <a:endParaRPr lang="hu-HU" sz="2800" dirty="0"/>
          </a:p>
          <a:p>
            <a:pPr marL="0" indent="0">
              <a:buNone/>
            </a:pPr>
            <a:r>
              <a:rPr lang="hu-HU" sz="2800" dirty="0"/>
              <a:t>Ezért MVC szerkezetben készült el az alkalmazás.</a:t>
            </a:r>
          </a:p>
          <a:p>
            <a:pPr marL="0" indent="0">
              <a:buNone/>
            </a:pPr>
            <a:endParaRPr lang="hu-HU" dirty="0"/>
          </a:p>
        </p:txBody>
      </p:sp>
    </p:spTree>
    <p:extLst>
      <p:ext uri="{BB962C8B-B14F-4D97-AF65-F5344CB8AC3E}">
        <p14:creationId xmlns:p14="http://schemas.microsoft.com/office/powerpoint/2010/main" val="3555246736"/>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ím 1">
            <a:extLst>
              <a:ext uri="{FF2B5EF4-FFF2-40B4-BE49-F238E27FC236}">
                <a16:creationId xmlns:a16="http://schemas.microsoft.com/office/drawing/2014/main" id="{BB5894DF-E1DB-AF91-6BF9-F590A93D43DC}"/>
              </a:ext>
            </a:extLst>
          </p:cNvPr>
          <p:cNvSpPr>
            <a:spLocks noGrp="1"/>
          </p:cNvSpPr>
          <p:nvPr>
            <p:ph type="title"/>
          </p:nvPr>
        </p:nvSpPr>
        <p:spPr>
          <a:xfrm>
            <a:off x="2853108" y="660642"/>
            <a:ext cx="7958331" cy="1077229"/>
          </a:xfrm>
        </p:spPr>
        <p:txBody>
          <a:bodyPr/>
          <a:lstStyle/>
          <a:p>
            <a:r>
              <a:rPr lang="hu-HU" sz="4400" dirty="0"/>
              <a:t>Választott</a:t>
            </a:r>
            <a:r>
              <a:rPr lang="hu-HU" dirty="0"/>
              <a:t> technológia</a:t>
            </a:r>
          </a:p>
        </p:txBody>
      </p:sp>
      <p:sp>
        <p:nvSpPr>
          <p:cNvPr id="3" name="Tartalom helye 2">
            <a:extLst>
              <a:ext uri="{FF2B5EF4-FFF2-40B4-BE49-F238E27FC236}">
                <a16:creationId xmlns:a16="http://schemas.microsoft.com/office/drawing/2014/main" id="{8CA6D3CD-72AE-9692-0506-4614C224F98B}"/>
              </a:ext>
            </a:extLst>
          </p:cNvPr>
          <p:cNvSpPr>
            <a:spLocks noGrp="1"/>
          </p:cNvSpPr>
          <p:nvPr>
            <p:ph idx="1"/>
          </p:nvPr>
        </p:nvSpPr>
        <p:spPr>
          <a:xfrm>
            <a:off x="1952516" y="1829042"/>
            <a:ext cx="8286968" cy="5028958"/>
          </a:xfrm>
        </p:spPr>
        <p:txBody>
          <a:bodyPr>
            <a:normAutofit lnSpcReduction="10000"/>
          </a:bodyPr>
          <a:lstStyle/>
          <a:p>
            <a:pPr marL="0" indent="0">
              <a:buNone/>
            </a:pPr>
            <a:r>
              <a:rPr lang="hu-HU" sz="2400" dirty="0"/>
              <a:t>ASP .Net </a:t>
            </a:r>
            <a:r>
              <a:rPr lang="hu-HU" sz="2400" dirty="0" err="1"/>
              <a:t>Core</a:t>
            </a:r>
            <a:r>
              <a:rPr lang="hu-HU" sz="2400" dirty="0"/>
              <a:t> MVC architektúra</a:t>
            </a:r>
          </a:p>
          <a:p>
            <a:r>
              <a:rPr lang="hu-HU" sz="2400" dirty="0"/>
              <a:t>Célja: az alkalmazás különböző felelősségi köreinek szétválasztása</a:t>
            </a:r>
          </a:p>
          <a:p>
            <a:r>
              <a:rPr lang="hu-HU" sz="2400" dirty="0"/>
              <a:t>nagyobb rendszerek fejlesztésénél használatos, mert lehetővé teszi, hogy az alkalmazás logikai részei jól elkülönüljenek egymástól, így a rendszer:</a:t>
            </a:r>
          </a:p>
          <a:p>
            <a:pPr lvl="1"/>
            <a:r>
              <a:rPr lang="hu-HU" sz="2000" dirty="0"/>
              <a:t>könnyebben karbantartható, </a:t>
            </a:r>
          </a:p>
          <a:p>
            <a:pPr lvl="1"/>
            <a:r>
              <a:rPr lang="hu-HU" sz="2000" dirty="0"/>
              <a:t>egyszerűbben bővíthető, </a:t>
            </a:r>
          </a:p>
          <a:p>
            <a:pPr lvl="1"/>
            <a:r>
              <a:rPr lang="hu-HU" sz="2000" dirty="0"/>
              <a:t>több fejlesztő számára is átláthatóbb, </a:t>
            </a:r>
          </a:p>
          <a:p>
            <a:pPr lvl="1"/>
            <a:r>
              <a:rPr lang="hu-HU" sz="2000" dirty="0"/>
              <a:t>hibakeresés szempontjából is hatékonyabb. </a:t>
            </a:r>
          </a:p>
          <a:p>
            <a:endParaRPr lang="hu-HU" sz="1600" dirty="0"/>
          </a:p>
          <a:p>
            <a:pPr marL="0" indent="0">
              <a:buNone/>
            </a:pPr>
            <a:endParaRPr lang="hu-HU" sz="1600" dirty="0"/>
          </a:p>
        </p:txBody>
      </p:sp>
    </p:spTree>
    <p:extLst>
      <p:ext uri="{BB962C8B-B14F-4D97-AF65-F5344CB8AC3E}">
        <p14:creationId xmlns:p14="http://schemas.microsoft.com/office/powerpoint/2010/main" val="701381227"/>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ím 1">
            <a:extLst>
              <a:ext uri="{FF2B5EF4-FFF2-40B4-BE49-F238E27FC236}">
                <a16:creationId xmlns:a16="http://schemas.microsoft.com/office/drawing/2014/main" id="{63982E9E-3710-F942-AC3C-703E68EF601E}"/>
              </a:ext>
            </a:extLst>
          </p:cNvPr>
          <p:cNvSpPr>
            <a:spLocks noGrp="1"/>
          </p:cNvSpPr>
          <p:nvPr>
            <p:ph type="title"/>
          </p:nvPr>
        </p:nvSpPr>
        <p:spPr>
          <a:xfrm>
            <a:off x="2992808" y="625041"/>
            <a:ext cx="7958331" cy="1077229"/>
          </a:xfrm>
        </p:spPr>
        <p:txBody>
          <a:bodyPr>
            <a:normAutofit fontScale="90000"/>
          </a:bodyPr>
          <a:lstStyle/>
          <a:p>
            <a:r>
              <a:rPr lang="hu-HU" dirty="0"/>
              <a:t>Az </a:t>
            </a:r>
            <a:r>
              <a:rPr lang="hu-HU" sz="4900" dirty="0"/>
              <a:t>MVC</a:t>
            </a:r>
            <a:r>
              <a:rPr lang="hu-HU" dirty="0"/>
              <a:t> működési elve</a:t>
            </a:r>
            <a:br>
              <a:rPr lang="hu-HU" b="1" dirty="0"/>
            </a:br>
            <a:endParaRPr lang="hu-HU" dirty="0"/>
          </a:p>
        </p:txBody>
      </p:sp>
      <p:sp>
        <p:nvSpPr>
          <p:cNvPr id="3" name="Tartalom helye 2">
            <a:extLst>
              <a:ext uri="{FF2B5EF4-FFF2-40B4-BE49-F238E27FC236}">
                <a16:creationId xmlns:a16="http://schemas.microsoft.com/office/drawing/2014/main" id="{525D8EA9-A1BB-F586-5134-81B542E05A79}"/>
              </a:ext>
            </a:extLst>
          </p:cNvPr>
          <p:cNvSpPr>
            <a:spLocks noGrp="1"/>
          </p:cNvSpPr>
          <p:nvPr>
            <p:ph idx="1"/>
          </p:nvPr>
        </p:nvSpPr>
        <p:spPr>
          <a:xfrm>
            <a:off x="2015991" y="1702270"/>
            <a:ext cx="8140070" cy="4653484"/>
          </a:xfrm>
        </p:spPr>
        <p:txBody>
          <a:bodyPr>
            <a:normAutofit/>
          </a:bodyPr>
          <a:lstStyle/>
          <a:p>
            <a:r>
              <a:rPr lang="hu-HU" sz="2400" b="1" dirty="0" err="1"/>
              <a:t>Model</a:t>
            </a:r>
            <a:r>
              <a:rPr lang="hu-HU" sz="2400" dirty="0"/>
              <a:t> (Modell): az adatokkal és az üzleti logikával foglalkozik — például adatbázisból olvas vagy számításokat végez.</a:t>
            </a:r>
          </a:p>
          <a:p>
            <a:r>
              <a:rPr lang="hu-HU" sz="2400" b="1" dirty="0" err="1"/>
              <a:t>View</a:t>
            </a:r>
            <a:r>
              <a:rPr lang="hu-HU" sz="2400" dirty="0"/>
              <a:t> (Nézet): a felhasználó által látott felület — gombok, táblázatok, oldalak.</a:t>
            </a:r>
          </a:p>
          <a:p>
            <a:r>
              <a:rPr lang="hu-HU" sz="2400" b="1" dirty="0" err="1"/>
              <a:t>Controller</a:t>
            </a:r>
            <a:r>
              <a:rPr lang="hu-HU" sz="2400" dirty="0"/>
              <a:t> (Vezérlő): összeköti a kettőt: fogadja a felhasználói műveleteket, kezeli a kéréseket, és eldönti, melyik modell vagy nézet </a:t>
            </a:r>
            <a:r>
              <a:rPr lang="hu-HU" sz="2400" dirty="0" err="1"/>
              <a:t>működjön</a:t>
            </a:r>
            <a:r>
              <a:rPr lang="hu-HU" sz="2400" dirty="0"/>
              <a:t>.</a:t>
            </a:r>
          </a:p>
        </p:txBody>
      </p:sp>
    </p:spTree>
    <p:extLst>
      <p:ext uri="{BB962C8B-B14F-4D97-AF65-F5344CB8AC3E}">
        <p14:creationId xmlns:p14="http://schemas.microsoft.com/office/powerpoint/2010/main" val="3127677755"/>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ím 1">
            <a:extLst>
              <a:ext uri="{FF2B5EF4-FFF2-40B4-BE49-F238E27FC236}">
                <a16:creationId xmlns:a16="http://schemas.microsoft.com/office/drawing/2014/main" id="{7B9EFBD8-C180-2171-14E1-AB9FE136DCB0}"/>
              </a:ext>
            </a:extLst>
          </p:cNvPr>
          <p:cNvSpPr>
            <a:spLocks noGrp="1"/>
          </p:cNvSpPr>
          <p:nvPr>
            <p:ph type="title"/>
          </p:nvPr>
        </p:nvSpPr>
        <p:spPr>
          <a:xfrm>
            <a:off x="2773599" y="503256"/>
            <a:ext cx="7958331" cy="1077229"/>
          </a:xfrm>
        </p:spPr>
        <p:txBody>
          <a:bodyPr/>
          <a:lstStyle/>
          <a:p>
            <a:r>
              <a:rPr lang="hu-HU" sz="4400" dirty="0"/>
              <a:t>Fejlesztői</a:t>
            </a:r>
            <a:r>
              <a:rPr lang="hu-HU" dirty="0"/>
              <a:t> környezet</a:t>
            </a:r>
          </a:p>
        </p:txBody>
      </p:sp>
      <p:sp>
        <p:nvSpPr>
          <p:cNvPr id="3" name="Tartalom helye 2">
            <a:extLst>
              <a:ext uri="{FF2B5EF4-FFF2-40B4-BE49-F238E27FC236}">
                <a16:creationId xmlns:a16="http://schemas.microsoft.com/office/drawing/2014/main" id="{23718DC9-4EA5-E701-E04B-2F5B6E51C9DC}"/>
              </a:ext>
            </a:extLst>
          </p:cNvPr>
          <p:cNvSpPr>
            <a:spLocks noGrp="1"/>
          </p:cNvSpPr>
          <p:nvPr>
            <p:ph idx="1"/>
          </p:nvPr>
        </p:nvSpPr>
        <p:spPr>
          <a:xfrm>
            <a:off x="1839630" y="1790700"/>
            <a:ext cx="8512739" cy="4703744"/>
          </a:xfrm>
        </p:spPr>
        <p:txBody>
          <a:bodyPr>
            <a:normAutofit fontScale="70000" lnSpcReduction="20000"/>
          </a:bodyPr>
          <a:lstStyle/>
          <a:p>
            <a:pPr marL="0" indent="0">
              <a:buNone/>
            </a:pPr>
            <a:r>
              <a:rPr lang="hu-HU" sz="3600" b="1" dirty="0"/>
              <a:t>Fejlesztői gépen használt szoftverek </a:t>
            </a:r>
          </a:p>
          <a:p>
            <a:pPr lvl="0"/>
            <a:r>
              <a:rPr lang="hu-HU" sz="3600" dirty="0"/>
              <a:t>Visual </a:t>
            </a:r>
            <a:r>
              <a:rPr lang="hu-HU" sz="3600" dirty="0" err="1"/>
              <a:t>Studio</a:t>
            </a:r>
            <a:r>
              <a:rPr lang="hu-HU" sz="3600" dirty="0"/>
              <a:t> 2022 </a:t>
            </a:r>
          </a:p>
          <a:p>
            <a:pPr lvl="0"/>
            <a:r>
              <a:rPr lang="hu-HU" sz="3600" dirty="0"/>
              <a:t>SQL Server Management </a:t>
            </a:r>
            <a:r>
              <a:rPr lang="hu-HU" sz="3600" dirty="0" err="1"/>
              <a:t>Studio</a:t>
            </a:r>
            <a:r>
              <a:rPr lang="hu-HU" sz="3600" dirty="0"/>
              <a:t> (SSMS) </a:t>
            </a:r>
          </a:p>
          <a:p>
            <a:pPr lvl="0"/>
            <a:r>
              <a:rPr lang="hu-HU" sz="3600" dirty="0"/>
              <a:t>GitHub verziókezelés </a:t>
            </a:r>
          </a:p>
          <a:p>
            <a:pPr lvl="0"/>
            <a:r>
              <a:rPr lang="hu-HU" sz="3600" dirty="0"/>
              <a:t>böngésző teszteléshez (Chrome / Edge) </a:t>
            </a:r>
          </a:p>
          <a:p>
            <a:pPr marL="0" indent="0">
              <a:buNone/>
            </a:pPr>
            <a:r>
              <a:rPr lang="hu-HU" sz="3600" b="1" dirty="0"/>
              <a:t>Szerveroldali futtatási környezet</a:t>
            </a:r>
          </a:p>
          <a:p>
            <a:pPr lvl="0"/>
            <a:r>
              <a:rPr lang="hu-HU" sz="3600" dirty="0"/>
              <a:t>ASP.NET </a:t>
            </a:r>
            <a:r>
              <a:rPr lang="hu-HU" sz="3600" dirty="0" err="1"/>
              <a:t>Core</a:t>
            </a:r>
            <a:r>
              <a:rPr lang="hu-HU" sz="3600" dirty="0"/>
              <a:t> </a:t>
            </a:r>
            <a:r>
              <a:rPr lang="hu-HU" sz="3600" dirty="0" err="1"/>
              <a:t>Runtime</a:t>
            </a:r>
            <a:r>
              <a:rPr lang="hu-HU" sz="3600" dirty="0"/>
              <a:t> </a:t>
            </a:r>
          </a:p>
          <a:p>
            <a:pPr lvl="0"/>
            <a:r>
              <a:rPr lang="hu-HU" sz="3600" dirty="0"/>
              <a:t>SQL Server adatbázis </a:t>
            </a:r>
          </a:p>
          <a:p>
            <a:pPr marL="0" lvl="0" indent="0">
              <a:buNone/>
            </a:pPr>
            <a:endParaRPr lang="hu-HU" dirty="0"/>
          </a:p>
          <a:p>
            <a:pPr marL="0" indent="0">
              <a:buNone/>
            </a:pPr>
            <a:endParaRPr lang="hu-HU" dirty="0"/>
          </a:p>
        </p:txBody>
      </p:sp>
    </p:spTree>
    <p:extLst>
      <p:ext uri="{BB962C8B-B14F-4D97-AF65-F5344CB8AC3E}">
        <p14:creationId xmlns:p14="http://schemas.microsoft.com/office/powerpoint/2010/main" val="1617787813"/>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ím 1">
            <a:extLst>
              <a:ext uri="{FF2B5EF4-FFF2-40B4-BE49-F238E27FC236}">
                <a16:creationId xmlns:a16="http://schemas.microsoft.com/office/drawing/2014/main" id="{5AB0EA37-6B4A-6C0C-6510-958BD9A306D4}"/>
              </a:ext>
            </a:extLst>
          </p:cNvPr>
          <p:cNvSpPr>
            <a:spLocks noGrp="1"/>
          </p:cNvSpPr>
          <p:nvPr>
            <p:ph type="title"/>
          </p:nvPr>
        </p:nvSpPr>
        <p:spPr>
          <a:xfrm>
            <a:off x="3037979" y="269441"/>
            <a:ext cx="7958331" cy="1077229"/>
          </a:xfrm>
        </p:spPr>
        <p:txBody>
          <a:bodyPr/>
          <a:lstStyle/>
          <a:p>
            <a:r>
              <a:rPr lang="hu-HU" sz="4400" dirty="0"/>
              <a:t>Az adatbázis </a:t>
            </a:r>
            <a:r>
              <a:rPr lang="hu-HU" dirty="0"/>
              <a:t>felépítése</a:t>
            </a:r>
          </a:p>
        </p:txBody>
      </p:sp>
      <p:sp>
        <p:nvSpPr>
          <p:cNvPr id="3" name="Tartalom helye 2">
            <a:extLst>
              <a:ext uri="{FF2B5EF4-FFF2-40B4-BE49-F238E27FC236}">
                <a16:creationId xmlns:a16="http://schemas.microsoft.com/office/drawing/2014/main" id="{C7F871B9-AF0C-2250-B769-E8D6C59BC06E}"/>
              </a:ext>
            </a:extLst>
          </p:cNvPr>
          <p:cNvSpPr>
            <a:spLocks noGrp="1"/>
          </p:cNvSpPr>
          <p:nvPr>
            <p:ph idx="1"/>
          </p:nvPr>
        </p:nvSpPr>
        <p:spPr/>
        <p:txBody>
          <a:bodyPr/>
          <a:lstStyle/>
          <a:p>
            <a:endParaRPr lang="hu-HU"/>
          </a:p>
        </p:txBody>
      </p:sp>
      <p:pic>
        <p:nvPicPr>
          <p:cNvPr id="4" name="Picture 1">
            <a:extLst>
              <a:ext uri="{FF2B5EF4-FFF2-40B4-BE49-F238E27FC236}">
                <a16:creationId xmlns:a16="http://schemas.microsoft.com/office/drawing/2014/main" id="{F88B4540-6D80-21A2-178C-44204CD2F491}"/>
              </a:ext>
            </a:extLst>
          </p:cNvPr>
          <p:cNvPicPr>
            <a:picLocks noChangeAspect="1"/>
          </p:cNvPicPr>
          <p:nvPr/>
        </p:nvPicPr>
        <p:blipFill>
          <a:blip r:embed="rId3"/>
          <a:stretch>
            <a:fillRect/>
          </a:stretch>
        </p:blipFill>
        <p:spPr>
          <a:xfrm>
            <a:off x="1475089" y="1045030"/>
            <a:ext cx="9241821" cy="5625280"/>
          </a:xfrm>
          <a:prstGeom prst="rect">
            <a:avLst/>
          </a:prstGeom>
        </p:spPr>
      </p:pic>
    </p:spTree>
    <p:extLst>
      <p:ext uri="{BB962C8B-B14F-4D97-AF65-F5344CB8AC3E}">
        <p14:creationId xmlns:p14="http://schemas.microsoft.com/office/powerpoint/2010/main" val="911591004"/>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ím 1">
            <a:extLst>
              <a:ext uri="{FF2B5EF4-FFF2-40B4-BE49-F238E27FC236}">
                <a16:creationId xmlns:a16="http://schemas.microsoft.com/office/drawing/2014/main" id="{0EC80EF1-68A6-82AA-46BC-A5F8DED63C2A}"/>
              </a:ext>
            </a:extLst>
          </p:cNvPr>
          <p:cNvSpPr>
            <a:spLocks noGrp="1"/>
          </p:cNvSpPr>
          <p:nvPr>
            <p:ph type="title"/>
          </p:nvPr>
        </p:nvSpPr>
        <p:spPr>
          <a:xfrm>
            <a:off x="3170608" y="467093"/>
            <a:ext cx="7958331" cy="1077229"/>
          </a:xfrm>
        </p:spPr>
        <p:txBody>
          <a:bodyPr/>
          <a:lstStyle/>
          <a:p>
            <a:r>
              <a:rPr lang="hu-HU" sz="4400" dirty="0" err="1"/>
              <a:t>KerdesCimke</a:t>
            </a:r>
            <a:r>
              <a:rPr lang="hu-HU" dirty="0"/>
              <a:t> kapcsolótábla</a:t>
            </a:r>
          </a:p>
        </p:txBody>
      </p:sp>
      <p:pic>
        <p:nvPicPr>
          <p:cNvPr id="7" name="Tartalom helye 6">
            <a:extLst>
              <a:ext uri="{FF2B5EF4-FFF2-40B4-BE49-F238E27FC236}">
                <a16:creationId xmlns:a16="http://schemas.microsoft.com/office/drawing/2014/main" id="{77465414-36BF-137D-95D7-C34BD9ABA895}"/>
              </a:ext>
            </a:extLst>
          </p:cNvPr>
          <p:cNvPicPr>
            <a:picLocks noGrp="1" noChangeAspect="1"/>
          </p:cNvPicPr>
          <p:nvPr>
            <p:ph idx="1"/>
          </p:nvPr>
        </p:nvPicPr>
        <p:blipFill>
          <a:blip r:embed="rId3"/>
          <a:stretch>
            <a:fillRect/>
          </a:stretch>
        </p:blipFill>
        <p:spPr>
          <a:xfrm>
            <a:off x="2434549" y="1544322"/>
            <a:ext cx="7794332" cy="5022289"/>
          </a:xfrm>
          <a:prstGeom prst="rect">
            <a:avLst/>
          </a:prstGeom>
        </p:spPr>
      </p:pic>
    </p:spTree>
    <p:extLst>
      <p:ext uri="{BB962C8B-B14F-4D97-AF65-F5344CB8AC3E}">
        <p14:creationId xmlns:p14="http://schemas.microsoft.com/office/powerpoint/2010/main" val="1894384544"/>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ím 1">
            <a:extLst>
              <a:ext uri="{FF2B5EF4-FFF2-40B4-BE49-F238E27FC236}">
                <a16:creationId xmlns:a16="http://schemas.microsoft.com/office/drawing/2014/main" id="{8E46FEFB-DE76-DFCB-715E-3EA2101A6EA8}"/>
              </a:ext>
            </a:extLst>
          </p:cNvPr>
          <p:cNvSpPr>
            <a:spLocks noGrp="1"/>
          </p:cNvSpPr>
          <p:nvPr>
            <p:ph type="title"/>
          </p:nvPr>
        </p:nvSpPr>
        <p:spPr>
          <a:xfrm>
            <a:off x="2939442" y="350856"/>
            <a:ext cx="7958331" cy="1077229"/>
          </a:xfrm>
        </p:spPr>
        <p:txBody>
          <a:bodyPr/>
          <a:lstStyle/>
          <a:p>
            <a:r>
              <a:rPr lang="hu-HU" sz="4400" dirty="0"/>
              <a:t>Címke</a:t>
            </a:r>
            <a:r>
              <a:rPr lang="hu-HU" dirty="0"/>
              <a:t> létrehozása</a:t>
            </a:r>
          </a:p>
        </p:txBody>
      </p:sp>
      <p:pic>
        <p:nvPicPr>
          <p:cNvPr id="4" name="Tartalom helye 3">
            <a:extLst>
              <a:ext uri="{FF2B5EF4-FFF2-40B4-BE49-F238E27FC236}">
                <a16:creationId xmlns:a16="http://schemas.microsoft.com/office/drawing/2014/main" id="{764A0FC6-EF43-F0FE-20A5-7EA8C25F1467}"/>
              </a:ext>
            </a:extLst>
          </p:cNvPr>
          <p:cNvPicPr>
            <a:picLocks noGrp="1" noChangeAspect="1"/>
          </p:cNvPicPr>
          <p:nvPr>
            <p:ph idx="1"/>
          </p:nvPr>
        </p:nvPicPr>
        <p:blipFill>
          <a:blip r:embed="rId3"/>
          <a:stretch>
            <a:fillRect/>
          </a:stretch>
        </p:blipFill>
        <p:spPr>
          <a:xfrm>
            <a:off x="1294227" y="1219536"/>
            <a:ext cx="9603546" cy="5459653"/>
          </a:xfrm>
          <a:prstGeom prst="rect">
            <a:avLst/>
          </a:prstGeom>
        </p:spPr>
      </p:pic>
    </p:spTree>
    <p:extLst>
      <p:ext uri="{BB962C8B-B14F-4D97-AF65-F5344CB8AC3E}">
        <p14:creationId xmlns:p14="http://schemas.microsoft.com/office/powerpoint/2010/main" val="1383525466"/>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ím 1">
            <a:extLst>
              <a:ext uri="{FF2B5EF4-FFF2-40B4-BE49-F238E27FC236}">
                <a16:creationId xmlns:a16="http://schemas.microsoft.com/office/drawing/2014/main" id="{6646AC36-02DE-1D0D-5C50-A0F8FEA84B01}"/>
              </a:ext>
            </a:extLst>
          </p:cNvPr>
          <p:cNvSpPr>
            <a:spLocks noGrp="1"/>
          </p:cNvSpPr>
          <p:nvPr>
            <p:ph type="title"/>
          </p:nvPr>
        </p:nvSpPr>
        <p:spPr>
          <a:xfrm>
            <a:off x="2876561" y="396576"/>
            <a:ext cx="7958331" cy="1077229"/>
          </a:xfrm>
        </p:spPr>
        <p:txBody>
          <a:bodyPr/>
          <a:lstStyle/>
          <a:p>
            <a:r>
              <a:rPr lang="hu-HU" sz="4400" dirty="0"/>
              <a:t>Címke</a:t>
            </a:r>
            <a:r>
              <a:rPr lang="hu-HU" dirty="0"/>
              <a:t> vizsgálata</a:t>
            </a:r>
          </a:p>
        </p:txBody>
      </p:sp>
      <p:pic>
        <p:nvPicPr>
          <p:cNvPr id="5" name="Tartalom helye 4">
            <a:extLst>
              <a:ext uri="{FF2B5EF4-FFF2-40B4-BE49-F238E27FC236}">
                <a16:creationId xmlns:a16="http://schemas.microsoft.com/office/drawing/2014/main" id="{9BD00AD3-3D6F-324E-9213-5A0069863F57}"/>
              </a:ext>
            </a:extLst>
          </p:cNvPr>
          <p:cNvPicPr>
            <a:picLocks noGrp="1" noChangeAspect="1"/>
          </p:cNvPicPr>
          <p:nvPr>
            <p:ph idx="1"/>
          </p:nvPr>
        </p:nvPicPr>
        <p:blipFill>
          <a:blip r:embed="rId3"/>
          <a:stretch>
            <a:fillRect/>
          </a:stretch>
        </p:blipFill>
        <p:spPr>
          <a:xfrm>
            <a:off x="1357107" y="1249680"/>
            <a:ext cx="9477785" cy="5364164"/>
          </a:xfrm>
          <a:prstGeom prst="rect">
            <a:avLst/>
          </a:prstGeom>
        </p:spPr>
      </p:pic>
    </p:spTree>
    <p:extLst>
      <p:ext uri="{BB962C8B-B14F-4D97-AF65-F5344CB8AC3E}">
        <p14:creationId xmlns:p14="http://schemas.microsoft.com/office/powerpoint/2010/main" val="2410059609"/>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ím 1">
            <a:extLst>
              <a:ext uri="{FF2B5EF4-FFF2-40B4-BE49-F238E27FC236}">
                <a16:creationId xmlns:a16="http://schemas.microsoft.com/office/drawing/2014/main" id="{8E46FEFB-DE76-DFCB-715E-3EA2101A6EA8}"/>
              </a:ext>
            </a:extLst>
          </p:cNvPr>
          <p:cNvSpPr>
            <a:spLocks noGrp="1"/>
          </p:cNvSpPr>
          <p:nvPr>
            <p:ph type="title"/>
          </p:nvPr>
        </p:nvSpPr>
        <p:spPr>
          <a:xfrm>
            <a:off x="2611808" y="662671"/>
            <a:ext cx="7958331" cy="1077229"/>
          </a:xfrm>
        </p:spPr>
        <p:txBody>
          <a:bodyPr>
            <a:normAutofit fontScale="90000"/>
          </a:bodyPr>
          <a:lstStyle/>
          <a:p>
            <a:r>
              <a:rPr lang="en-US" sz="4800" dirty="0"/>
              <a:t>Summary</a:t>
            </a:r>
            <a:r>
              <a:rPr lang="en-US" dirty="0"/>
              <a:t> </a:t>
            </a:r>
            <a:br>
              <a:rPr lang="hu-HU" dirty="0"/>
            </a:br>
            <a:r>
              <a:rPr lang="en-US" dirty="0"/>
              <a:t>Results</a:t>
            </a:r>
            <a:endParaRPr lang="hu-HU" dirty="0"/>
          </a:p>
        </p:txBody>
      </p:sp>
      <p:sp>
        <p:nvSpPr>
          <p:cNvPr id="3" name="Tartalom helye 2">
            <a:extLst>
              <a:ext uri="{FF2B5EF4-FFF2-40B4-BE49-F238E27FC236}">
                <a16:creationId xmlns:a16="http://schemas.microsoft.com/office/drawing/2014/main" id="{0EF71852-F857-3099-96DC-685ECC27AD72}"/>
              </a:ext>
            </a:extLst>
          </p:cNvPr>
          <p:cNvSpPr>
            <a:spLocks noGrp="1"/>
          </p:cNvSpPr>
          <p:nvPr>
            <p:ph idx="1"/>
          </p:nvPr>
        </p:nvSpPr>
        <p:spPr>
          <a:xfrm>
            <a:off x="2178996" y="1739900"/>
            <a:ext cx="8391143" cy="4188460"/>
          </a:xfrm>
        </p:spPr>
        <p:txBody>
          <a:bodyPr>
            <a:normAutofit/>
          </a:bodyPr>
          <a:lstStyle/>
          <a:p>
            <a:pPr marL="0" indent="0">
              <a:buNone/>
            </a:pPr>
            <a:r>
              <a:rPr lang="en-US" sz="3200" dirty="0"/>
              <a:t>Functional MVC-based web application</a:t>
            </a:r>
          </a:p>
          <a:p>
            <a:r>
              <a:rPr lang="en-US" sz="3200" dirty="0"/>
              <a:t>User </a:t>
            </a:r>
            <a:r>
              <a:rPr lang="en-US" sz="3600" dirty="0"/>
              <a:t>management</a:t>
            </a:r>
            <a:endParaRPr lang="en-US" sz="3200" dirty="0"/>
          </a:p>
          <a:p>
            <a:r>
              <a:rPr lang="en-US" sz="3200" dirty="0"/>
              <a:t>Moderation system</a:t>
            </a:r>
          </a:p>
          <a:p>
            <a:r>
              <a:rPr lang="en-US" sz="3200" dirty="0"/>
              <a:t>Search </a:t>
            </a:r>
            <a:r>
              <a:rPr lang="en-US" sz="2800" dirty="0"/>
              <a:t>functionality</a:t>
            </a:r>
          </a:p>
        </p:txBody>
      </p:sp>
    </p:spTree>
    <p:extLst>
      <p:ext uri="{BB962C8B-B14F-4D97-AF65-F5344CB8AC3E}">
        <p14:creationId xmlns:p14="http://schemas.microsoft.com/office/powerpoint/2010/main" val="2278922692"/>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DF4E4AA-0F18-9E75-1806-35C42F6892ED}"/>
            </a:ext>
          </a:extLst>
        </p:cNvPr>
        <p:cNvGrpSpPr/>
        <p:nvPr/>
      </p:nvGrpSpPr>
      <p:grpSpPr>
        <a:xfrm>
          <a:off x="0" y="0"/>
          <a:ext cx="0" cy="0"/>
          <a:chOff x="0" y="0"/>
          <a:chExt cx="0" cy="0"/>
        </a:xfrm>
      </p:grpSpPr>
      <p:sp>
        <p:nvSpPr>
          <p:cNvPr id="2" name="Cím 1">
            <a:extLst>
              <a:ext uri="{FF2B5EF4-FFF2-40B4-BE49-F238E27FC236}">
                <a16:creationId xmlns:a16="http://schemas.microsoft.com/office/drawing/2014/main" id="{EC2628B0-1972-91D1-F9AA-D825C365EF5B}"/>
              </a:ext>
            </a:extLst>
          </p:cNvPr>
          <p:cNvSpPr>
            <a:spLocks noGrp="1"/>
          </p:cNvSpPr>
          <p:nvPr>
            <p:ph type="title"/>
          </p:nvPr>
        </p:nvSpPr>
        <p:spPr>
          <a:xfrm>
            <a:off x="2773599" y="640416"/>
            <a:ext cx="7958331" cy="1077229"/>
          </a:xfrm>
        </p:spPr>
        <p:txBody>
          <a:bodyPr>
            <a:normAutofit fontScale="90000"/>
          </a:bodyPr>
          <a:lstStyle/>
          <a:p>
            <a:r>
              <a:rPr lang="en-US" sz="4800" dirty="0"/>
              <a:t>Summary</a:t>
            </a:r>
            <a:r>
              <a:rPr lang="en-US" dirty="0"/>
              <a:t> </a:t>
            </a:r>
            <a:br>
              <a:rPr lang="hu-HU" dirty="0"/>
            </a:br>
            <a:r>
              <a:rPr lang="en-US" dirty="0"/>
              <a:t> Future improvements</a:t>
            </a:r>
            <a:endParaRPr lang="hu-HU" dirty="0"/>
          </a:p>
        </p:txBody>
      </p:sp>
      <p:sp>
        <p:nvSpPr>
          <p:cNvPr id="3" name="Tartalom helye 2">
            <a:extLst>
              <a:ext uri="{FF2B5EF4-FFF2-40B4-BE49-F238E27FC236}">
                <a16:creationId xmlns:a16="http://schemas.microsoft.com/office/drawing/2014/main" id="{7917E581-B751-F669-0834-DDD5C27F47DC}"/>
              </a:ext>
            </a:extLst>
          </p:cNvPr>
          <p:cNvSpPr>
            <a:spLocks noGrp="1"/>
          </p:cNvSpPr>
          <p:nvPr>
            <p:ph idx="1"/>
          </p:nvPr>
        </p:nvSpPr>
        <p:spPr/>
        <p:txBody>
          <a:bodyPr>
            <a:normAutofit/>
          </a:bodyPr>
          <a:lstStyle/>
          <a:p>
            <a:r>
              <a:rPr lang="en-US" sz="3600" dirty="0"/>
              <a:t>ASP.NET Identity </a:t>
            </a:r>
          </a:p>
          <a:p>
            <a:r>
              <a:rPr lang="en-US" sz="3600" dirty="0"/>
              <a:t>Email confirmation</a:t>
            </a:r>
          </a:p>
          <a:p>
            <a:r>
              <a:rPr lang="en-US" sz="3600" dirty="0"/>
              <a:t>Profile management</a:t>
            </a:r>
          </a:p>
          <a:p>
            <a:r>
              <a:rPr lang="en-US" sz="3600" dirty="0"/>
              <a:t>Image upload</a:t>
            </a:r>
          </a:p>
        </p:txBody>
      </p:sp>
    </p:spTree>
    <p:extLst>
      <p:ext uri="{BB962C8B-B14F-4D97-AF65-F5344CB8AC3E}">
        <p14:creationId xmlns:p14="http://schemas.microsoft.com/office/powerpoint/2010/main" val="1046398572"/>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ím 1">
            <a:extLst>
              <a:ext uri="{FF2B5EF4-FFF2-40B4-BE49-F238E27FC236}">
                <a16:creationId xmlns:a16="http://schemas.microsoft.com/office/drawing/2014/main" id="{C8F256DA-6A9A-F545-B432-FE34FD25349D}"/>
              </a:ext>
            </a:extLst>
          </p:cNvPr>
          <p:cNvSpPr>
            <a:spLocks noGrp="1"/>
          </p:cNvSpPr>
          <p:nvPr>
            <p:ph type="title"/>
          </p:nvPr>
        </p:nvSpPr>
        <p:spPr>
          <a:xfrm>
            <a:off x="845820" y="1775628"/>
            <a:ext cx="10500360" cy="3306744"/>
          </a:xfrm>
        </p:spPr>
        <p:txBody>
          <a:bodyPr>
            <a:normAutofit/>
          </a:bodyPr>
          <a:lstStyle/>
          <a:p>
            <a:pPr algn="ctr"/>
            <a:r>
              <a:rPr lang="hu-HU" sz="8800" dirty="0"/>
              <a:t>Köszönjük </a:t>
            </a:r>
            <a:br>
              <a:rPr lang="hu-HU" sz="8800" dirty="0"/>
            </a:br>
            <a:r>
              <a:rPr lang="hu-HU" sz="8800" dirty="0"/>
              <a:t>a figyelmet!</a:t>
            </a:r>
          </a:p>
        </p:txBody>
      </p:sp>
    </p:spTree>
    <p:extLst>
      <p:ext uri="{BB962C8B-B14F-4D97-AF65-F5344CB8AC3E}">
        <p14:creationId xmlns:p14="http://schemas.microsoft.com/office/powerpoint/2010/main" val="919193285"/>
      </p:ext>
    </p:extLst>
  </p:cSld>
  <p:clrMapOvr>
    <a:masterClrMapping/>
  </p:clrMapOvr>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Madison">
  <a:themeElements>
    <a:clrScheme name="Madison">
      <a:dk1>
        <a:sysClr val="windowText" lastClr="000000"/>
      </a:dk1>
      <a:lt1>
        <a:sysClr val="window" lastClr="FFFFFF"/>
      </a:lt1>
      <a:dk2>
        <a:srgbClr val="1F2D29"/>
      </a:dk2>
      <a:lt2>
        <a:srgbClr val="C5FAEB"/>
      </a:lt2>
      <a:accent1>
        <a:srgbClr val="A1D68B"/>
      </a:accent1>
      <a:accent2>
        <a:srgbClr val="5EC795"/>
      </a:accent2>
      <a:accent3>
        <a:srgbClr val="4DADCF"/>
      </a:accent3>
      <a:accent4>
        <a:srgbClr val="CDB756"/>
      </a:accent4>
      <a:accent5>
        <a:srgbClr val="E29C36"/>
      </a:accent5>
      <a:accent6>
        <a:srgbClr val="8EC0C1"/>
      </a:accent6>
      <a:hlink>
        <a:srgbClr val="6D9D9B"/>
      </a:hlink>
      <a:folHlink>
        <a:srgbClr val="6D8583"/>
      </a:folHlink>
    </a:clrScheme>
    <a:fontScheme name="Madison">
      <a:majorFont>
        <a:latin typeface="Arial" panose="020B060402020202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panose="020B060402020202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Madison">
      <a:fillStyleLst>
        <a:solidFill>
          <a:schemeClr val="phClr"/>
        </a:solidFill>
        <a:gradFill rotWithShape="1">
          <a:gsLst>
            <a:gs pos="0">
              <a:schemeClr val="phClr">
                <a:tint val="48000"/>
                <a:alpha val="88000"/>
                <a:satMod val="105000"/>
                <a:lumMod val="110000"/>
              </a:schemeClr>
            </a:gs>
            <a:gs pos="100000">
              <a:schemeClr val="phClr">
                <a:tint val="78000"/>
                <a:alpha val="92000"/>
                <a:satMod val="109000"/>
                <a:lumMod val="100000"/>
              </a:schemeClr>
            </a:gs>
          </a:gsLst>
          <a:lin ang="5400000" scaled="0"/>
        </a:gradFill>
        <a:gradFill rotWithShape="1">
          <a:gsLst>
            <a:gs pos="0">
              <a:schemeClr val="phClr">
                <a:tint val="98000"/>
                <a:satMod val="110000"/>
                <a:lumMod val="104000"/>
              </a:schemeClr>
            </a:gs>
            <a:gs pos="69000">
              <a:schemeClr val="phClr">
                <a:shade val="84000"/>
                <a:satMod val="130000"/>
                <a:lumMod val="92000"/>
              </a:schemeClr>
            </a:gs>
            <a:gs pos="100000">
              <a:schemeClr val="phClr">
                <a:shade val="76000"/>
                <a:satMod val="130000"/>
                <a:lumMod val="88000"/>
              </a:schemeClr>
            </a:gs>
          </a:gsLst>
          <a:lin ang="5400000" scaled="0"/>
        </a:gradFill>
      </a:fillStyleLst>
      <a:lnStyleLst>
        <a:ln w="9525" cap="flat" cmpd="sng" algn="ctr">
          <a:solidFill>
            <a:schemeClr val="phClr"/>
          </a:solidFill>
          <a:prstDash val="solid"/>
        </a:ln>
        <a:ln w="15875" cap="flat" cmpd="sng" algn="ctr">
          <a:solidFill>
            <a:schemeClr val="phClr"/>
          </a:solidFill>
          <a:prstDash val="solid"/>
        </a:ln>
        <a:ln w="22225" cap="flat" cmpd="sng" algn="ctr">
          <a:solidFill>
            <a:schemeClr val="phClr"/>
          </a:solidFill>
          <a:prstDash val="solid"/>
        </a:ln>
      </a:lnStyleLst>
      <a:effectStyleLst>
        <a:effectStyle>
          <a:effectLst/>
        </a:effectStyle>
        <a:effectStyle>
          <a:effectLst/>
        </a:effectStyle>
        <a:effectStyle>
          <a:effectLst/>
        </a:effectStyle>
      </a:effectStyleLst>
      <a:bgFillStyleLst>
        <a:solidFill>
          <a:schemeClr val="phClr"/>
        </a:solidFill>
        <a:solidFill>
          <a:schemeClr val="phClr"/>
        </a:solidFill>
        <a:blipFill rotWithShape="1">
          <a:blip xmlns:r="http://schemas.openxmlformats.org/officeDocument/2006/relationships" r:embed="rId1"/>
          <a:stretch/>
        </a:blipFill>
      </a:bgFillStyleLst>
    </a:fmtScheme>
  </a:themeElements>
  <a:objectDefaults/>
  <a:extraClrSchemeLst/>
  <a:extLst>
    <a:ext uri="{05A4C25C-085E-4340-85A3-A5531E510DB2}">
      <thm15:themeFamily xmlns:thm15="http://schemas.microsoft.com/office/thememl/2012/main" name="Madison" id="{025CB5FB-2DD3-45EE-B6F0-CC461540EB19}" vid="{6AC10936-2DFC-4054-9ADF-B5E2C5F86190}"/>
    </a:ext>
  </a:extLst>
</a:theme>
</file>

<file path=ppt/theme/theme2.xml><?xml version="1.0" encoding="utf-8"?>
<a:theme xmlns:a="http://schemas.openxmlformats.org/drawingml/2006/main" name="Office-téma">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{44D40B3D-0005-418C-892A-000FCE329C41}TF37254b02-f5b5-44b0-803d-e6af9466a024808ad340-ded51494a0cf</Template>
  <TotalTime>2297</TotalTime>
  <Words>1541</Words>
  <Application>Microsoft Office PowerPoint</Application>
  <PresentationFormat>Szélesvásznú</PresentationFormat>
  <Paragraphs>160</Paragraphs>
  <Slides>14</Slides>
  <Notes>13</Notes>
  <HiddenSlides>0</HiddenSlides>
  <MMClips>0</MMClips>
  <ScaleCrop>false</ScaleCrop>
  <HeadingPairs>
    <vt:vector size="6" baseType="variant">
      <vt:variant>
        <vt:lpstr>Használt betűtípusok</vt:lpstr>
      </vt:variant>
      <vt:variant>
        <vt:i4>5</vt:i4>
      </vt:variant>
      <vt:variant>
        <vt:lpstr>Téma</vt:lpstr>
      </vt:variant>
      <vt:variant>
        <vt:i4>1</vt:i4>
      </vt:variant>
      <vt:variant>
        <vt:lpstr>Diacímek</vt:lpstr>
      </vt:variant>
      <vt:variant>
        <vt:i4>14</vt:i4>
      </vt:variant>
    </vt:vector>
  </HeadingPairs>
  <TitlesOfParts>
    <vt:vector size="20" baseType="lpstr">
      <vt:lpstr>Arial</vt:lpstr>
      <vt:lpstr>Calibri</vt:lpstr>
      <vt:lpstr>MS Shell Dlg 2</vt:lpstr>
      <vt:lpstr>Wingdings</vt:lpstr>
      <vt:lpstr>Wingdings 3</vt:lpstr>
      <vt:lpstr>Madison</vt:lpstr>
      <vt:lpstr>KertKérdés projekt</vt:lpstr>
      <vt:lpstr>Bevezetés</vt:lpstr>
      <vt:lpstr>Bevezetés</vt:lpstr>
      <vt:lpstr>Bevezetés</vt:lpstr>
      <vt:lpstr>Választott technológia</vt:lpstr>
      <vt:lpstr>Az MVC működési elve </vt:lpstr>
      <vt:lpstr>Fejlesztői környezet</vt:lpstr>
      <vt:lpstr>Az adatbázis felépítése</vt:lpstr>
      <vt:lpstr>KerdesCimke kapcsolótábla</vt:lpstr>
      <vt:lpstr>Címke létrehozása</vt:lpstr>
      <vt:lpstr>Címke vizsgálata</vt:lpstr>
      <vt:lpstr>Summary  Results</vt:lpstr>
      <vt:lpstr>Summary   Future improvements</vt:lpstr>
      <vt:lpstr>Köszönjük  a figyelmet!</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Alpha Alapkezelő</dc:creator>
  <cp:lastModifiedBy>Alpha Alapkezelő</cp:lastModifiedBy>
  <cp:revision>13</cp:revision>
  <dcterms:created xsi:type="dcterms:W3CDTF">2026-04-27T08:36:55Z</dcterms:created>
  <dcterms:modified xsi:type="dcterms:W3CDTF">2026-04-28T22:54:25Z</dcterms:modified>
</cp:coreProperties>
</file>